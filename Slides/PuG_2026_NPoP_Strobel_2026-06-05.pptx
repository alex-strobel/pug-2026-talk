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91" r:id="rId1"/>
  </p:sldMasterIdLst>
  <p:notesMasterIdLst>
    <p:notesMasterId r:id="rId15"/>
  </p:notesMasterIdLst>
  <p:handoutMasterIdLst>
    <p:handoutMasterId r:id="rId16"/>
  </p:handoutMasterIdLst>
  <p:sldIdLst>
    <p:sldId id="256" r:id="rId2"/>
    <p:sldId id="707" r:id="rId3"/>
    <p:sldId id="717" r:id="rId4"/>
    <p:sldId id="710" r:id="rId5"/>
    <p:sldId id="718" r:id="rId6"/>
    <p:sldId id="722" r:id="rId7"/>
    <p:sldId id="723" r:id="rId8"/>
    <p:sldId id="712" r:id="rId9"/>
    <p:sldId id="713" r:id="rId10"/>
    <p:sldId id="720" r:id="rId11"/>
    <p:sldId id="719" r:id="rId12"/>
    <p:sldId id="714" r:id="rId13"/>
    <p:sldId id="327" r:id="rId14"/>
  </p:sldIdLst>
  <p:sldSz cx="12192000" cy="6858000"/>
  <p:notesSz cx="6858000" cy="9144000"/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nöfel,Anja" initials="K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7D00"/>
    <a:srgbClr val="539DC5"/>
    <a:srgbClr val="BEDAE8"/>
    <a:srgbClr val="183C58"/>
    <a:srgbClr val="28618C"/>
    <a:srgbClr val="13A983"/>
    <a:srgbClr val="009BA4"/>
    <a:srgbClr val="93C356"/>
    <a:srgbClr val="BCCF02"/>
    <a:srgbClr val="02A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Designformatvorlage 2 - Akz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48" autoAdjust="0"/>
    <p:restoredTop sz="97787"/>
  </p:normalViewPr>
  <p:slideViewPr>
    <p:cSldViewPr snapToGrid="0" snapToObjects="1">
      <p:cViewPr>
        <p:scale>
          <a:sx n="100" d="100"/>
          <a:sy n="100" d="100"/>
        </p:scale>
        <p:origin x="3928" y="19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AC6211-610F-44E5-BF19-D3CDF6EDD281}" type="datetimeFigureOut">
              <a:rPr lang="de-DE" smtClean="0"/>
              <a:t>28.05.26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61AA8-FB04-42D1-9939-D1A1356F80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1560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435D3-23A6-45D3-8DFA-7317DC1E7A64}" type="datetimeFigureOut">
              <a:rPr lang="de-DE" smtClean="0"/>
              <a:t>28.05.26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9AC09-DF60-43F4-96BF-67D4D9A740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31825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025526"/>
            <a:ext cx="12192000" cy="583247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74714" y="4494775"/>
            <a:ext cx="10438871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>
                    <a:alpha val="80000"/>
                  </a:schemeClr>
                </a:solidFill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  <a:br>
              <a:rPr lang="de-DE" dirty="0"/>
            </a:br>
            <a:r>
              <a:rPr lang="de-DE" dirty="0"/>
              <a:t>Ort oder Anlass des Vortrags // Samstag, 13. Januar 2018</a:t>
            </a:r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2420841"/>
            <a:ext cx="10438873" cy="828676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  <a:br>
              <a:rPr lang="de-DE" dirty="0"/>
            </a:br>
            <a:r>
              <a:rPr lang="de-DE" dirty="0"/>
              <a:t>Struktureinheit  der TU Dresden</a:t>
            </a:r>
          </a:p>
        </p:txBody>
      </p:sp>
      <p:sp>
        <p:nvSpPr>
          <p:cNvPr id="4" name="Rechteck 3"/>
          <p:cNvSpPr/>
          <p:nvPr/>
        </p:nvSpPr>
        <p:spPr>
          <a:xfrm>
            <a:off x="0" y="1025525"/>
            <a:ext cx="12192000" cy="17145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ln>
            <a:noFill/>
          </a:ln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</a:t>
            </a:r>
            <a:br>
              <a:rPr lang="de-DE" dirty="0"/>
            </a:br>
            <a:r>
              <a:rPr lang="de-DE" dirty="0"/>
              <a:t>durch Klicken bearbeiten</a:t>
            </a:r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731" y="328249"/>
            <a:ext cx="1218534" cy="554589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00A316A-2E01-6C8E-21AF-D7611296B1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9" y="190393"/>
            <a:ext cx="1836928" cy="81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1202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_T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74712" y="4494775"/>
            <a:ext cx="10438873" cy="1334525"/>
          </a:xfrm>
        </p:spPr>
        <p:txBody>
          <a:bodyPr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1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  <a:br>
              <a:rPr lang="de-DE" dirty="0"/>
            </a:br>
            <a:r>
              <a:rPr lang="de-DE" dirty="0"/>
              <a:t>Ort oder Anlass des Vortrags // Samstag, 13. Januar 2018</a:t>
            </a:r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2420841"/>
            <a:ext cx="10438873" cy="828676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  <a:br>
              <a:rPr lang="de-DE" dirty="0"/>
            </a:br>
            <a:r>
              <a:rPr lang="de-DE" dirty="0"/>
              <a:t>Struktureinheit  der TU Dresden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74713" y="3392203"/>
            <a:ext cx="10438873" cy="972108"/>
          </a:xfrm>
          <a:ln>
            <a:noFill/>
          </a:ln>
        </p:spPr>
        <p:txBody>
          <a:bodyPr/>
          <a:lstStyle>
            <a:lvl1pPr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Titelmasterformat</a:t>
            </a:r>
            <a:br>
              <a:rPr lang="de-DE" dirty="0"/>
            </a:br>
            <a:r>
              <a:rPr lang="de-DE" dirty="0"/>
              <a:t>durch Klicken bearbeiten</a:t>
            </a:r>
          </a:p>
        </p:txBody>
      </p:sp>
      <p:cxnSp>
        <p:nvCxnSpPr>
          <p:cNvPr id="8" name="Gerade Verbindung 14"/>
          <p:cNvCxnSpPr/>
          <p:nvPr/>
        </p:nvCxnSpPr>
        <p:spPr>
          <a:xfrm>
            <a:off x="0" y="102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4"/>
          <p:cNvCxnSpPr/>
          <p:nvPr/>
        </p:nvCxnSpPr>
        <p:spPr>
          <a:xfrm>
            <a:off x="0" y="1206000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731" y="328249"/>
            <a:ext cx="1218534" cy="55458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4738" cy="5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198478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28119933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tx2"/>
              </a:gs>
              <a:gs pos="100000">
                <a:schemeClr val="accent2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387259"/>
            <a:ext cx="10580687" cy="1198491"/>
          </a:xfrm>
        </p:spPr>
        <p:txBody>
          <a:bodyPr/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7067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5749" y="1484313"/>
            <a:ext cx="6089649" cy="43449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rPr lang="de-DE"/>
              <a:t>Bild auf Platzhalter ziehen oder durch Klicken auf Symbol hinzufügen</a:t>
            </a:r>
            <a:endParaRPr lang="de-DE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rPr lang="de-DE"/>
              <a:t>Bild auf Platzhalter ziehen oder durch Klicken auf Symbol hinzufügen</a:t>
            </a:r>
            <a:endParaRPr lang="de-DE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de-DE"/>
              <a:t>Bild auf Platzhalter ziehen oder durch Klicken auf Symbol hinzufügen</a:t>
            </a:r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9113879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484314"/>
            <a:ext cx="5187950" cy="4344985"/>
          </a:xfrm>
        </p:spPr>
        <p:txBody>
          <a:bodyPr/>
          <a:lstStyle/>
          <a:p>
            <a:r>
              <a:rPr lang="de-DE"/>
              <a:t>Bild auf Platzhalter ziehen oder durch Klicken auf Symbol hinzufügen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>
          <a:xfrm>
            <a:off x="874713" y="1484314"/>
            <a:ext cx="5195887" cy="43449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024276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3" y="1484314"/>
            <a:ext cx="5195887" cy="43449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67449" y="1484315"/>
            <a:ext cx="5187950" cy="43449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366198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2" y="1484314"/>
            <a:ext cx="3399576" cy="43449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8070849" y="1484315"/>
            <a:ext cx="3384550" cy="43449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457700" y="1484315"/>
            <a:ext cx="3416300" cy="43449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4335963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 txBox="1">
            <a:spLocks/>
          </p:cNvSpPr>
          <p:nvPr/>
        </p:nvSpPr>
        <p:spPr>
          <a:xfrm>
            <a:off x="6267450" y="368305"/>
            <a:ext cx="5046135" cy="6621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Open Sans" panose="020B0606030504020204" pitchFamily="34" charset="0"/>
                <a:ea typeface="+mj-ea"/>
                <a:cs typeface="+mj-cs"/>
              </a:defRPr>
            </a:lvl1pPr>
          </a:lstStyle>
          <a:p>
            <a:r>
              <a:rPr lang="de-DE" sz="2400" dirty="0"/>
              <a:t>Titelmasterformat durch Klicken bearbeiten</a:t>
            </a:r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874712" y="1484314"/>
            <a:ext cx="5195887" cy="43449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6267450" y="1484315"/>
            <a:ext cx="5187950" cy="43449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74712" y="367507"/>
            <a:ext cx="5195887" cy="6627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653168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9847689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de-DE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25895653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de-DE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679611084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Das ist eine Überschrift</a:t>
            </a:r>
            <a:br>
              <a:rPr lang="de-DE" dirty="0"/>
            </a:br>
            <a:r>
              <a:rPr lang="de-DE" dirty="0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481138"/>
            <a:ext cx="10580687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Textebene (16pt)</a:t>
            </a:r>
          </a:p>
          <a:p>
            <a:pPr lvl="1"/>
            <a:r>
              <a:rPr lang="de-DE" dirty="0"/>
              <a:t>Zweite Textebene für Aufzählungen</a:t>
            </a:r>
          </a:p>
          <a:p>
            <a:pPr lvl="2"/>
            <a:r>
              <a:rPr lang="de-DE" dirty="0"/>
              <a:t>Dritte Textebene bei viel Text (14pt)</a:t>
            </a:r>
          </a:p>
          <a:p>
            <a:pPr lvl="3"/>
            <a:r>
              <a:rPr lang="de-DE" dirty="0"/>
              <a:t>Vierte Textebene für Aufzählungen bei viel Text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Zwischenseite</a:t>
            </a:r>
          </a:p>
          <a:p>
            <a:pPr lvl="6"/>
            <a:r>
              <a:rPr lang="de-DE" dirty="0"/>
              <a:t>Für den nächsten Präsentationsabschnitt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08D3304-3F60-3A8A-F0B2-D2660351E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0560" y="6288480"/>
            <a:ext cx="514349" cy="16470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04954F7-C579-02B4-29EB-FE858905D970}"/>
              </a:ext>
            </a:extLst>
          </p:cNvPr>
          <p:cNvSpPr txBox="1"/>
          <p:nvPr userDrawn="1"/>
        </p:nvSpPr>
        <p:spPr>
          <a:xfrm>
            <a:off x="1558925" y="6308279"/>
            <a:ext cx="723741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200" kern="1200" dirty="0" err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PuG</a:t>
            </a:r>
            <a:r>
              <a:rPr lang="de-DE" sz="1200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-Symposium </a:t>
            </a:r>
            <a:r>
              <a:rPr lang="de-DE" sz="1200" kern="1200" dirty="0" err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Neuroscientific</a:t>
            </a:r>
            <a:r>
              <a:rPr lang="de-DE" sz="1200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Perspectives</a:t>
            </a:r>
            <a:r>
              <a:rPr lang="de-DE" sz="1200" kern="1200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 on Personality • Alexander Strobel • Page </a:t>
            </a:r>
            <a:fld id="{BB345A75-B580-4544-AA90-56924E4BB115}" type="slidenum">
              <a:rPr lang="de-DE" sz="1200" kern="12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‹Nr.›</a:t>
            </a:fld>
            <a:endParaRPr lang="en-US" sz="1200" kern="1200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989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/>
  <p:txStyles>
    <p:titleStyle>
      <a:lvl1pPr algn="l" defTabSz="914269" rtl="0" eaLnBrk="1" latinLnBrk="0" hangingPunct="1">
        <a:spcBef>
          <a:spcPct val="0"/>
        </a:spcBef>
        <a:buNone/>
        <a:defRPr sz="2400" b="1" kern="1200" baseline="0">
          <a:solidFill>
            <a:schemeClr val="tx2"/>
          </a:solidFill>
          <a:latin typeface="Open Sans" panose="020B0606030504020204" pitchFamily="34" charset="0"/>
          <a:ea typeface="+mj-ea"/>
          <a:cs typeface="+mj-cs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1pPr>
      <a:lvl2pPr marL="395942" indent="-323953" algn="l" defTabSz="914269" rtl="0" eaLnBrk="1" latinLnBrk="0" hangingPunct="1">
        <a:spcBef>
          <a:spcPts val="300"/>
        </a:spcBef>
        <a:buFont typeface="Open Sans" panose="020B0606030504020204" pitchFamily="34" charset="0"/>
        <a:buChar char="—"/>
        <a:defRPr sz="16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2pPr>
      <a:lvl3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3pPr>
      <a:lvl4pPr marL="395942" indent="-215969" algn="l" defTabSz="914269" rtl="0" eaLnBrk="1" latinLnBrk="0" hangingPunct="1">
        <a:spcBef>
          <a:spcPts val="300"/>
        </a:spcBef>
        <a:buFont typeface="Symbol" panose="05050102010706020507" pitchFamily="18" charset="2"/>
        <a:buChar char="-"/>
        <a:defRPr sz="1400" kern="120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4pPr>
      <a:lvl5pPr marL="575916" indent="-179362" algn="l" defTabSz="914269" rtl="0" eaLnBrk="1" latinLnBrk="0" hangingPunct="1">
        <a:spcBef>
          <a:spcPts val="300"/>
        </a:spcBef>
        <a:buFont typeface="Symbol" panose="05050102010706020507" pitchFamily="18" charset="2"/>
        <a:buChar char="-"/>
        <a:defRPr sz="1400" kern="1200" baseline="0">
          <a:solidFill>
            <a:schemeClr val="tx2"/>
          </a:solidFill>
          <a:latin typeface="Open Sans" panose="020B0606030504020204" pitchFamily="34" charset="0"/>
          <a:ea typeface="+mn-ea"/>
          <a:cs typeface="+mn-cs"/>
        </a:defRPr>
      </a:lvl5pPr>
      <a:lvl6pPr marL="358723" indent="0" algn="l" defTabSz="914269" rtl="0" eaLnBrk="1" latinLnBrk="0" hangingPunct="1">
        <a:spcBef>
          <a:spcPts val="0"/>
        </a:spcBef>
        <a:buFont typeface="Arial" panose="020B0604020202020204" pitchFamily="34" charset="0"/>
        <a:buNone/>
        <a:defRPr sz="3200" b="1" kern="1200">
          <a:solidFill>
            <a:schemeClr val="bg1"/>
          </a:solidFill>
          <a:latin typeface="+mn-lt"/>
          <a:ea typeface="+mn-ea"/>
          <a:cs typeface="+mn-cs"/>
        </a:defRPr>
      </a:lvl6pPr>
      <a:lvl7pPr marL="358723" indent="0" algn="l" defTabSz="914269" rtl="0" eaLnBrk="1" latinLnBrk="0" hangingPunct="1">
        <a:spcBef>
          <a:spcPts val="0"/>
        </a:spcBef>
        <a:buFont typeface="Arial" panose="020B0604020202020204" pitchFamily="34" charset="0"/>
        <a:buNone/>
        <a:defRPr sz="3200" kern="1200">
          <a:solidFill>
            <a:schemeClr val="bg1"/>
          </a:solidFill>
          <a:latin typeface="+mn-lt"/>
          <a:ea typeface="+mn-ea"/>
          <a:cs typeface="+mn-cs"/>
        </a:defRPr>
      </a:lvl7pPr>
      <a:lvl8pPr marL="3428502" indent="-228566" algn="l" defTabSz="91426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35" indent="-228566" algn="l" defTabSz="914269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0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092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48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-strobel/PuG-2026-Talk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016/j.paid.2016.06.069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77/095679762091678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5" Type="http://schemas.openxmlformats.org/officeDocument/2006/relationships/hyperlink" Target="https://doi.org/10.1073/pnas.1818430116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08995605.2021.2022067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77/0146167208315556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77/0146167208315556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77/0146167208315556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71/journal.pone.0239817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98-023-44349-3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hyperlink" Target="https://doi.org/10.1371/journal.pone.0239817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62/jocn_a_02297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ex-strobel/PuG-2026-Talk" TargetMode="Externa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Relationship Id="rId5" Type="http://schemas.openxmlformats.org/officeDocument/2006/relationships/image" Target="../media/image5.png"/><Relationship Id="rId4" Type="http://schemas.openxmlformats.org/officeDocument/2006/relationships/hyperlink" Target="mailto:alexander.strobel@tu-dresden.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sz="2800" dirty="0"/>
              <a:t>The </a:t>
            </a:r>
            <a:r>
              <a:rPr lang="de-DE" sz="2800" dirty="0" err="1"/>
              <a:t>problem</a:t>
            </a:r>
            <a:r>
              <a:rPr lang="de-DE" sz="2800" dirty="0"/>
              <a:t> </a:t>
            </a:r>
            <a:r>
              <a:rPr lang="de-DE" sz="2800" dirty="0" err="1"/>
              <a:t>of</a:t>
            </a:r>
            <a:r>
              <a:rPr lang="de-DE" sz="2800" dirty="0"/>
              <a:t> </a:t>
            </a:r>
            <a:r>
              <a:rPr lang="de-DE" sz="2800" dirty="0" err="1"/>
              <a:t>weak</a:t>
            </a:r>
            <a:r>
              <a:rPr lang="de-DE" sz="2800" dirty="0"/>
              <a:t> </a:t>
            </a:r>
            <a:r>
              <a:rPr lang="de-DE" sz="2800" dirty="0" err="1"/>
              <a:t>associations</a:t>
            </a:r>
            <a:r>
              <a:rPr lang="de-DE" sz="2800" dirty="0"/>
              <a:t> </a:t>
            </a:r>
            <a:r>
              <a:rPr lang="de-DE" sz="2800" dirty="0" err="1"/>
              <a:t>between</a:t>
            </a:r>
            <a:r>
              <a:rPr lang="de-DE" sz="2800" dirty="0"/>
              <a:t> </a:t>
            </a:r>
            <a:br>
              <a:rPr lang="de-DE" sz="2800" dirty="0"/>
            </a:br>
            <a:r>
              <a:rPr lang="de-DE" sz="2800" dirty="0" err="1"/>
              <a:t>personality</a:t>
            </a:r>
            <a:r>
              <a:rPr lang="de-DE" sz="2800" dirty="0"/>
              <a:t> and </a:t>
            </a:r>
            <a:r>
              <a:rPr lang="de-DE" sz="2800" dirty="0" err="1"/>
              <a:t>neurocognitive</a:t>
            </a:r>
            <a:r>
              <a:rPr lang="de-DE" sz="2800" dirty="0"/>
              <a:t> </a:t>
            </a:r>
            <a:r>
              <a:rPr lang="de-DE" sz="2800" dirty="0" err="1"/>
              <a:t>measures</a:t>
            </a:r>
            <a:endParaRPr lang="de-DE" sz="280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b="1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Alexander Strobel</a:t>
            </a:r>
          </a:p>
          <a:p>
            <a:r>
              <a:rPr lang="de-DE" dirty="0">
                <a:ea typeface="Open Sans" panose="020B0606030504020204" pitchFamily="34" charset="0"/>
                <a:cs typeface="Open Sans" panose="020B0606030504020204" pitchFamily="34" charset="0"/>
              </a:rPr>
              <a:t>Faculty </a:t>
            </a:r>
            <a:r>
              <a:rPr lang="de-DE" dirty="0" err="1">
                <a:ea typeface="Open Sans" panose="020B0606030504020204" pitchFamily="34" charset="0"/>
                <a:cs typeface="Open Sans" panose="020B0606030504020204" pitchFamily="34" charset="0"/>
              </a:rPr>
              <a:t>of</a:t>
            </a:r>
            <a:r>
              <a:rPr lang="de-DE" dirty="0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de-DE" dirty="0" err="1">
                <a:ea typeface="Open Sans" panose="020B0606030504020204" pitchFamily="34" charset="0"/>
                <a:cs typeface="Open Sans" panose="020B0606030504020204" pitchFamily="34" charset="0"/>
              </a:rPr>
              <a:t>Psychology</a:t>
            </a:r>
            <a:endParaRPr lang="de-DE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de-DE" b="0" dirty="0" err="1"/>
              <a:t>PuG</a:t>
            </a:r>
            <a:r>
              <a:rPr lang="de-DE" b="0" dirty="0"/>
              <a:t> Symposium Heidelberg 2026</a:t>
            </a:r>
            <a:br>
              <a:rPr lang="de-DE" dirty="0"/>
            </a:br>
            <a:r>
              <a:rPr lang="de-DE" dirty="0" err="1"/>
              <a:t>Neuroscientific</a:t>
            </a:r>
            <a:r>
              <a:rPr lang="de-DE" dirty="0"/>
              <a:t> </a:t>
            </a:r>
            <a:r>
              <a:rPr lang="de-DE" dirty="0" err="1"/>
              <a:t>Perspectives</a:t>
            </a:r>
            <a:r>
              <a:rPr lang="de-DE" dirty="0"/>
              <a:t> on Personality</a:t>
            </a:r>
            <a:br>
              <a:rPr lang="de-DE" dirty="0"/>
            </a:br>
            <a:br>
              <a:rPr lang="de-DE" dirty="0"/>
            </a:br>
            <a:endParaRPr lang="de-DE" b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02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215D0-0FC0-F210-2BCA-6C9EEAFC4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1D42B6D-C950-A413-1ECB-29E4FD94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noProof="1"/>
              <a:t>Weak associations between personality and neurocognitive measures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b="0" noProof="1">
                <a:ea typeface="Open Sans" panose="020B0606030504020204" pitchFamily="34" charset="0"/>
                <a:cs typeface="Open Sans" panose="020B0606030504020204" pitchFamily="34" charset="0"/>
              </a:rPr>
              <a:t>Outline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234BBAE3-6F8B-F5E0-3683-E0A26A7178F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6635698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Introduction</a:t>
            </a:r>
          </a:p>
          <a:p>
            <a:pPr lvl="1" indent="-395942">
              <a:spcBef>
                <a:spcPts val="600"/>
              </a:spcBef>
            </a:pP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Problem outline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Technical issues</a:t>
            </a:r>
          </a:p>
          <a:p>
            <a:pPr lvl="1" indent="-395942">
              <a:spcBef>
                <a:spcPts val="600"/>
              </a:spcBef>
            </a:pP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Reliability</a:t>
            </a:r>
          </a:p>
          <a:p>
            <a:pPr lvl="1" indent="-395942">
              <a:spcBef>
                <a:spcPts val="600"/>
              </a:spcBef>
            </a:pP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Range restriction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Conceptual issues</a:t>
            </a:r>
          </a:p>
          <a:p>
            <a:pPr lvl="1" indent="-395942">
              <a:spcBef>
                <a:spcPts val="600"/>
              </a:spcBef>
            </a:pP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Brunswik asymmetry</a:t>
            </a:r>
          </a:p>
          <a:p>
            <a:pPr lvl="1" indent="-395942">
              <a:spcBef>
                <a:spcPts val="600"/>
              </a:spcBef>
            </a:pP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Strong vs. weak situations</a:t>
            </a:r>
            <a:endParaRPr lang="en-US" sz="1800" b="1" noProof="1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Integration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9FA462F-82E0-C0A5-B53D-D71EB4A96212}"/>
              </a:ext>
            </a:extLst>
          </p:cNvPr>
          <p:cNvSpPr/>
          <p:nvPr/>
        </p:nvSpPr>
        <p:spPr>
          <a:xfrm>
            <a:off x="0" y="6125671"/>
            <a:ext cx="12192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For slides, literature and code of this presentation, see:</a:t>
            </a:r>
            <a:b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</a:br>
            <a:r>
              <a:rPr lang="de-DE" sz="16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https://github.com/alex-strobel/PuG-2026-Talk</a:t>
            </a:r>
            <a:endParaRPr lang="de-DE" sz="2400" b="1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A55B415-F184-4764-25F6-322D079AD8E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662" y="1484313"/>
            <a:ext cx="3344737" cy="33447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0491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399C-A8C6-91A8-2D3E-DD214C7B8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D02C7F0-688D-77FD-F120-53301B01E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Weak associations between personality and neurocognitive measures</a:t>
            </a:r>
            <a:b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Introduction: </a:t>
            </a:r>
            <a:r>
              <a:rPr lang="en-US" b="0" dirty="0">
                <a:ea typeface="Open Sans" panose="020B0606030504020204" pitchFamily="34" charset="0"/>
                <a:cs typeface="Open Sans" panose="020B0606030504020204" pitchFamily="34" charset="0"/>
              </a:rPr>
              <a:t>Problem outline</a:t>
            </a:r>
            <a:b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D3CB56B5-C746-E2BE-61F6-60898A70F6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6635698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Problem outline</a:t>
            </a:r>
          </a:p>
          <a:p>
            <a:pPr marL="268288" lvl="1" indent="-261938">
              <a:spcBef>
                <a:spcPts val="600"/>
              </a:spcBef>
            </a:pPr>
            <a:r>
              <a:rPr lang="en-US" sz="1800" b="1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What is a weak association in the first place?</a:t>
            </a:r>
          </a:p>
          <a:p>
            <a:pPr marL="268288" lvl="1" indent="-261938">
              <a:spcBef>
                <a:spcPts val="600"/>
              </a:spcBef>
              <a:buNone/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	Cohens convention does not pass the empirical test for individual differences research (and many other psychology subdisciplines!), most effects seem to be around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~ .10-.30.</a:t>
            </a:r>
          </a:p>
          <a:p>
            <a:pPr marL="268288" lvl="1" indent="-261938">
              <a:spcBef>
                <a:spcPts val="600"/>
              </a:spcBef>
            </a:pPr>
            <a:r>
              <a:rPr lang="en-US" sz="1800" b="1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Then why do others observe strong associations so often?</a:t>
            </a:r>
          </a:p>
          <a:p>
            <a:pPr marL="268288" lvl="1" indent="-261938">
              <a:spcBef>
                <a:spcPts val="600"/>
              </a:spcBef>
              <a:buNone/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	Biopsychological research is not likely to come up with stronger effects, but its effects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need to be strong 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to show up in small samples (and to get published)</a:t>
            </a:r>
          </a:p>
          <a:p>
            <a:pPr marL="268288" lvl="1" indent="-261938">
              <a:spcBef>
                <a:spcPts val="600"/>
              </a:spcBef>
            </a:pPr>
            <a:r>
              <a:rPr lang="en-US" sz="1800" b="1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But I don’t find even any significant medium associations?</a:t>
            </a:r>
          </a:p>
          <a:p>
            <a:pPr marL="268288" lvl="1" indent="-261938">
              <a:spcBef>
                <a:spcPts val="600"/>
              </a:spcBef>
              <a:buNone/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	Power is maybe too low (required sample sizes to detect effects of 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= .10/.20/.30 associations are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N 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= 780/193/85 at a power of 80%)</a:t>
            </a:r>
          </a:p>
          <a:p>
            <a:pPr marL="268288" lvl="1" indent="-261938">
              <a:spcBef>
                <a:spcPts val="600"/>
              </a:spcBef>
            </a:pPr>
            <a:r>
              <a:rPr lang="en-US" sz="1800" b="1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But even then, my effects are smaller as to be expected?</a:t>
            </a:r>
          </a:p>
          <a:p>
            <a:pPr marL="268288" lvl="1" indent="-261938">
              <a:spcBef>
                <a:spcPts val="600"/>
              </a:spcBef>
              <a:buNone/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	This may be a consequence of publication bias (see Open Science Collaboration, 2005), but also simply due to technical issues …</a:t>
            </a:r>
          </a:p>
          <a:p>
            <a:pPr marL="400050" lvl="1" indent="0">
              <a:spcBef>
                <a:spcPts val="600"/>
              </a:spcBef>
              <a:buNone/>
            </a:pPr>
            <a:endParaRPr lang="en-US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2F3E12A-4338-8119-1137-8B43787D5B79}"/>
              </a:ext>
            </a:extLst>
          </p:cNvPr>
          <p:cNvSpPr/>
          <p:nvPr/>
        </p:nvSpPr>
        <p:spPr>
          <a:xfrm>
            <a:off x="0" y="6125671"/>
            <a:ext cx="12192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Gignac, G. E. &amp; 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Szodorai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, E. T. (2016). 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PAID, 102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, 74-78.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  <a:hlinkClick r:id="rId3"/>
              </a:rPr>
              <a:t>http://doi.org/10.1016/j.paid.2016.06.069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DA51DC8-6EB5-7898-74AA-92B35E6956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823"/>
          <a:stretch>
            <a:fillRect/>
          </a:stretch>
        </p:blipFill>
        <p:spPr>
          <a:xfrm>
            <a:off x="8221552" y="2931561"/>
            <a:ext cx="3233848" cy="3102096"/>
          </a:xfrm>
          <a:prstGeom prst="rect">
            <a:avLst/>
          </a:prstGeom>
        </p:spPr>
      </p:pic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653974E1-DB50-4605-6AFF-505ABA16C359}"/>
              </a:ext>
            </a:extLst>
          </p:cNvPr>
          <p:cNvGrpSpPr/>
          <p:nvPr/>
        </p:nvGrpSpPr>
        <p:grpSpPr>
          <a:xfrm>
            <a:off x="8661857" y="1498173"/>
            <a:ext cx="2599579" cy="4189123"/>
            <a:chOff x="8661857" y="1498173"/>
            <a:chExt cx="2599579" cy="4189123"/>
          </a:xfrm>
        </p:grpSpPr>
        <p:cxnSp>
          <p:nvCxnSpPr>
            <p:cNvPr id="49" name="Gerade Verbindung 48">
              <a:extLst>
                <a:ext uri="{FF2B5EF4-FFF2-40B4-BE49-F238E27FC236}">
                  <a16:creationId xmlns:a16="http://schemas.microsoft.com/office/drawing/2014/main" id="{4B1C54F2-5187-6809-9C05-6A19A391A3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61857" y="1498173"/>
              <a:ext cx="0" cy="4189123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49">
              <a:extLst>
                <a:ext uri="{FF2B5EF4-FFF2-40B4-BE49-F238E27FC236}">
                  <a16:creationId xmlns:a16="http://schemas.microsoft.com/office/drawing/2014/main" id="{A20EC10E-4600-F516-59AE-A339DCFF9E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8168" y="1498173"/>
              <a:ext cx="0" cy="4189123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50">
              <a:extLst>
                <a:ext uri="{FF2B5EF4-FFF2-40B4-BE49-F238E27FC236}">
                  <a16:creationId xmlns:a16="http://schemas.microsoft.com/office/drawing/2014/main" id="{3A7C6F8A-B3F9-D0C1-4E00-AF397CDE9F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9564" y="1498173"/>
              <a:ext cx="0" cy="4189123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51">
              <a:extLst>
                <a:ext uri="{FF2B5EF4-FFF2-40B4-BE49-F238E27FC236}">
                  <a16:creationId xmlns:a16="http://schemas.microsoft.com/office/drawing/2014/main" id="{FD300DA5-6A12-3F41-3785-336B33F2DB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65709" y="1498173"/>
              <a:ext cx="0" cy="4189123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1921BFFF-A717-70F0-291F-D0C2E4C92B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61436" y="1498173"/>
              <a:ext cx="0" cy="4189123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6D364773-7656-A185-6267-C71005D17C8E}"/>
              </a:ext>
            </a:extLst>
          </p:cNvPr>
          <p:cNvGrpSpPr/>
          <p:nvPr/>
        </p:nvGrpSpPr>
        <p:grpSpPr>
          <a:xfrm>
            <a:off x="8920019" y="1429506"/>
            <a:ext cx="2341417" cy="540085"/>
            <a:chOff x="8920019" y="1429506"/>
            <a:chExt cx="2341417" cy="540085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996320A3-6FDD-27D3-3BB3-9A787DEB89D9}"/>
                </a:ext>
              </a:extLst>
            </p:cNvPr>
            <p:cNvGrpSpPr/>
            <p:nvPr/>
          </p:nvGrpSpPr>
          <p:grpSpPr>
            <a:xfrm>
              <a:off x="8920019" y="1746596"/>
              <a:ext cx="2341417" cy="222995"/>
              <a:chOff x="8915400" y="2216727"/>
              <a:chExt cx="2341417" cy="2971800"/>
            </a:xfrm>
          </p:grpSpPr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22C51677-28AD-2552-7414-FA9BD955F424}"/>
                  </a:ext>
                </a:extLst>
              </p:cNvPr>
              <p:cNvSpPr/>
              <p:nvPr/>
            </p:nvSpPr>
            <p:spPr>
              <a:xfrm>
                <a:off x="8915400" y="2216727"/>
                <a:ext cx="519543" cy="2971800"/>
              </a:xfrm>
              <a:prstGeom prst="rect">
                <a:avLst/>
              </a:prstGeom>
              <a:solidFill>
                <a:srgbClr val="F07D00"/>
              </a:solidFill>
              <a:ln>
                <a:solidFill>
                  <a:srgbClr val="F07D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weak</a:t>
                </a:r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2C451EB3-EB39-3880-CCE6-C6A53ADC85BB}"/>
                  </a:ext>
                </a:extLst>
              </p:cNvPr>
              <p:cNvSpPr/>
              <p:nvPr/>
            </p:nvSpPr>
            <p:spPr>
              <a:xfrm>
                <a:off x="9434943" y="2216727"/>
                <a:ext cx="526148" cy="2971800"/>
              </a:xfrm>
              <a:prstGeom prst="rect">
                <a:avLst/>
              </a:prstGeom>
              <a:solidFill>
                <a:srgbClr val="539DC5"/>
              </a:solidFill>
              <a:ln>
                <a:solidFill>
                  <a:srgbClr val="539D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medium</a:t>
                </a:r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F10C9DDA-EC8B-0631-5A85-31AB3FD2871A}"/>
                  </a:ext>
                </a:extLst>
              </p:cNvPr>
              <p:cNvSpPr/>
              <p:nvPr/>
            </p:nvSpPr>
            <p:spPr>
              <a:xfrm>
                <a:off x="9961090" y="2216727"/>
                <a:ext cx="1295727" cy="2971800"/>
              </a:xfrm>
              <a:prstGeom prst="rect">
                <a:avLst/>
              </a:prstGeom>
              <a:solidFill>
                <a:srgbClr val="BEDAE8"/>
              </a:solidFill>
              <a:ln>
                <a:solidFill>
                  <a:srgbClr val="BEDA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sz="1000" dirty="0">
                    <a:solidFill>
                      <a:schemeClr val="bg1"/>
                    </a:solidFill>
                  </a:rPr>
                  <a:t>strong</a:t>
                </a:r>
              </a:p>
            </p:txBody>
          </p:sp>
        </p:grp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1640FAB2-368D-73FE-E196-D693436DE377}"/>
                </a:ext>
              </a:extLst>
            </p:cNvPr>
            <p:cNvSpPr txBox="1"/>
            <p:nvPr/>
          </p:nvSpPr>
          <p:spPr>
            <a:xfrm>
              <a:off x="9219351" y="1429506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Cohen (1988)</a:t>
              </a:r>
            </a:p>
          </p:txBody>
        </p: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EE666212-67F6-5B98-F366-4886B50F13F6}"/>
              </a:ext>
            </a:extLst>
          </p:cNvPr>
          <p:cNvGrpSpPr/>
          <p:nvPr/>
        </p:nvGrpSpPr>
        <p:grpSpPr>
          <a:xfrm>
            <a:off x="8633100" y="2153732"/>
            <a:ext cx="2665217" cy="540457"/>
            <a:chOff x="8633100" y="2153732"/>
            <a:chExt cx="2665217" cy="540457"/>
          </a:xfrm>
        </p:grpSpPr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11D5B1D0-18E6-E461-77FF-3E5E29713CE6}"/>
                </a:ext>
              </a:extLst>
            </p:cNvPr>
            <p:cNvGrpSpPr/>
            <p:nvPr/>
          </p:nvGrpSpPr>
          <p:grpSpPr>
            <a:xfrm>
              <a:off x="8669984" y="2471194"/>
              <a:ext cx="2591453" cy="222995"/>
              <a:chOff x="8665365" y="2216727"/>
              <a:chExt cx="2591453" cy="2971800"/>
            </a:xfrm>
          </p:grpSpPr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40A6B1EB-ACB4-4B2D-7885-11A9823A3514}"/>
                  </a:ext>
                </a:extLst>
              </p:cNvPr>
              <p:cNvSpPr/>
              <p:nvPr/>
            </p:nvSpPr>
            <p:spPr>
              <a:xfrm>
                <a:off x="8665365" y="2216727"/>
                <a:ext cx="248184" cy="2971800"/>
              </a:xfrm>
              <a:prstGeom prst="rect">
                <a:avLst/>
              </a:prstGeom>
              <a:solidFill>
                <a:srgbClr val="F07D00"/>
              </a:solidFill>
              <a:ln>
                <a:solidFill>
                  <a:srgbClr val="F07D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0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2D58593B-09E9-4A36-A0EA-E6DC7554FE51}"/>
                  </a:ext>
                </a:extLst>
              </p:cNvPr>
              <p:cNvSpPr/>
              <p:nvPr/>
            </p:nvSpPr>
            <p:spPr>
              <a:xfrm>
                <a:off x="8913548" y="2216727"/>
                <a:ext cx="521395" cy="2971800"/>
              </a:xfrm>
              <a:prstGeom prst="rect">
                <a:avLst/>
              </a:prstGeom>
              <a:solidFill>
                <a:srgbClr val="539DC5"/>
              </a:solidFill>
              <a:ln>
                <a:solidFill>
                  <a:srgbClr val="539DC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000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0591A6AF-1351-C202-B664-9A81DE641A7F}"/>
                  </a:ext>
                </a:extLst>
              </p:cNvPr>
              <p:cNvSpPr/>
              <p:nvPr/>
            </p:nvSpPr>
            <p:spPr>
              <a:xfrm>
                <a:off x="9448800" y="2216727"/>
                <a:ext cx="1808018" cy="2971800"/>
              </a:xfrm>
              <a:prstGeom prst="rect">
                <a:avLst/>
              </a:prstGeom>
              <a:solidFill>
                <a:srgbClr val="BEDAE8"/>
              </a:solidFill>
              <a:ln>
                <a:solidFill>
                  <a:srgbClr val="BEDAE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0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B9BC0B6A-3CF7-45F3-EB67-4A121DDD14BC}"/>
                </a:ext>
              </a:extLst>
            </p:cNvPr>
            <p:cNvSpPr txBox="1"/>
            <p:nvPr/>
          </p:nvSpPr>
          <p:spPr>
            <a:xfrm>
              <a:off x="8633100" y="2153732"/>
              <a:ext cx="266521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Gignac &amp; </a:t>
              </a:r>
              <a:r>
                <a:rPr lang="en-US" sz="1600" b="1" dirty="0" err="1">
                  <a:solidFill>
                    <a:schemeClr val="accent2"/>
                  </a:solidFill>
                </a:rPr>
                <a:t>Szodorai</a:t>
              </a:r>
              <a:r>
                <a:rPr lang="en-US" sz="1600" b="1" dirty="0">
                  <a:solidFill>
                    <a:schemeClr val="accent2"/>
                  </a:solidFill>
                </a:rPr>
                <a:t> (2016)</a:t>
              </a: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176D27B9-E81A-2C02-1965-A2D488867F3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rcRect t="80974" b="8822"/>
          <a:stretch>
            <a:fillRect/>
          </a:stretch>
        </p:blipFill>
        <p:spPr>
          <a:xfrm>
            <a:off x="8221551" y="5687296"/>
            <a:ext cx="3233848" cy="34717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345263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A5D4B-0F12-FFE5-2052-C393BB2B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C9637D2-6F31-4413-1CCF-F7CA95C2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Weak associations between personality and neurocognitive measures</a:t>
            </a:r>
            <a:b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Technical issues: </a:t>
            </a:r>
            <a:r>
              <a:rPr lang="en-US" b="0" dirty="0">
                <a:ea typeface="Open Sans" panose="020B0606030504020204" pitchFamily="34" charset="0"/>
                <a:cs typeface="Open Sans" panose="020B0606030504020204" pitchFamily="34" charset="0"/>
              </a:rPr>
              <a:t>Reliability</a:t>
            </a:r>
            <a:b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A5B041FF-C590-39CA-084F-2958E15987F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2" y="1484313"/>
            <a:ext cx="6225744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Correlation attenuation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noProof="1"/>
              <a:t>the observed correlation between two variables is weaker than their "true" relationship due to unreliability in the data and/or </a:t>
            </a:r>
            <a:r>
              <a:rPr lang="en-US" sz="1800" noProof="1"/>
              <a:t>measurement error</a:t>
            </a:r>
            <a:endParaRPr lang="en-US" sz="1800" noProof="1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68288" lvl="1" indent="-268288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Suboptimal reliability is a pervasive issue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Intelligence research: ~ .90 (own estimate)</a:t>
            </a:r>
          </a:p>
          <a:p>
            <a:pPr marL="268288" lvl="1" indent="-268288">
              <a:spcBef>
                <a:spcPts val="2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Personality research: ≤ .80 (own estimate)</a:t>
            </a:r>
          </a:p>
          <a:p>
            <a:pPr marL="268288" lvl="1" indent="-268288">
              <a:spcBef>
                <a:spcPts val="2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Cognitive research: ~ .60 (Enkavi et al., 2019)</a:t>
            </a:r>
          </a:p>
          <a:p>
            <a:pPr marL="268288" lvl="1" indent="-268288">
              <a:spcBef>
                <a:spcPts val="2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Imaging research: ~ .40 (Elliott et al., 2020) </a:t>
            </a:r>
          </a:p>
          <a:p>
            <a:pPr marL="268288" lvl="1" indent="-268288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Consequences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use high reliability measures / capture measurement error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correct expected effect size for reliability of your measures for estimation of required sample size at a given 𝛼 and 1-𝛽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correct observed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for attenuation via </a:t>
            </a:r>
            <a:r>
              <a:rPr lang="en-US" i="1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US" i="1" baseline="-250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true</a:t>
            </a:r>
            <a:r>
              <a:rPr lang="en-US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= </a:t>
            </a:r>
            <a:r>
              <a:rPr lang="en-US" i="1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US" i="1" baseline="-250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obs</a:t>
            </a:r>
            <a:r>
              <a:rPr lang="en-US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/sqrt(</a:t>
            </a:r>
            <a:r>
              <a:rPr lang="en-US" i="1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Rel</a:t>
            </a:r>
            <a:r>
              <a:rPr lang="en-US" i="1" baseline="-250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X</a:t>
            </a:r>
            <a:r>
              <a:rPr lang="en-US" baseline="-250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* </a:t>
            </a:r>
            <a:r>
              <a:rPr lang="en-US" i="1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Rel</a:t>
            </a:r>
            <a:r>
              <a:rPr lang="en-US" i="1" baseline="-250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Y</a:t>
            </a:r>
            <a:r>
              <a:rPr lang="en-US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0" lvl="1" indent="0">
              <a:spcBef>
                <a:spcPts val="600"/>
              </a:spcBef>
              <a:buNone/>
            </a:pPr>
            <a:endParaRPr lang="en-US" b="1" noProof="1">
              <a:solidFill>
                <a:schemeClr val="accent2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1" indent="0">
              <a:spcBef>
                <a:spcPts val="1200"/>
              </a:spcBef>
              <a:buNone/>
            </a:pPr>
            <a:endParaRPr lang="en-US" sz="1800" b="1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805E064-E8E3-C596-D2AF-9D67457585D5}"/>
              </a:ext>
            </a:extLst>
          </p:cNvPr>
          <p:cNvSpPr/>
          <p:nvPr/>
        </p:nvSpPr>
        <p:spPr>
          <a:xfrm>
            <a:off x="6096000" y="6109486"/>
            <a:ext cx="6096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Elliott, M. L. et al. (2020). 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Psych Sci, 31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(7), 792­–806.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https://doi.org/10.1177/095679762091678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0D7CACE-896E-07D5-B14F-E22D33D01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555" y="1326659"/>
            <a:ext cx="4247460" cy="465850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8F8061AA-B4A8-68B9-DA26-BE6CBF755161}"/>
              </a:ext>
            </a:extLst>
          </p:cNvPr>
          <p:cNvSpPr txBox="1"/>
          <p:nvPr/>
        </p:nvSpPr>
        <p:spPr>
          <a:xfrm rot="16200000">
            <a:off x="10229663" y="3305888"/>
            <a:ext cx="2854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Aft>
                <a:spcPts val="1200"/>
              </a:spcAft>
              <a:defRPr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data simulated with R</a:t>
            </a:r>
            <a:endParaRPr lang="en-US" sz="1000" b="1" dirty="0">
              <a:solidFill>
                <a:schemeClr val="bg1">
                  <a:lumMod val="50000"/>
                </a:schemeClr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DF3FD98-6EE3-3FE5-A215-529C26DA421F}"/>
              </a:ext>
            </a:extLst>
          </p:cNvPr>
          <p:cNvSpPr/>
          <p:nvPr/>
        </p:nvSpPr>
        <p:spPr>
          <a:xfrm>
            <a:off x="0" y="6109487"/>
            <a:ext cx="6096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dirty="0" err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Enkavi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, A. Z. et al. (2019). 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PNAS, 116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(12), 5472-5477.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  <a:hlinkClick r:id="rId5"/>
              </a:rPr>
              <a:t>https://doi.org/10.1073/pnas.1818430116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 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6377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6747B-1861-C183-FA65-8B6B56268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E186864-A660-94B3-8450-99AF5A1E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Weak associations between personality and neurocognitive measures</a:t>
            </a:r>
            <a:b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Technical issues: </a:t>
            </a:r>
            <a:r>
              <a:rPr lang="en-US" b="0" dirty="0">
                <a:ea typeface="Open Sans" panose="020B0606030504020204" pitchFamily="34" charset="0"/>
                <a:cs typeface="Open Sans" panose="020B0606030504020204" pitchFamily="34" charset="0"/>
              </a:rPr>
              <a:t>Range restriction</a:t>
            </a:r>
            <a:b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76B88B39-D83B-CD34-3F02-9E078E486C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6349844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Correlation attenuation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noProof="1"/>
              <a:t>the observed correlation between two variables is weaker than their "true" relationship due to restriction of variance in the data</a:t>
            </a:r>
            <a:endParaRPr lang="en-US" sz="1800" noProof="1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68288" lvl="1" indent="-268288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Range restriction is an issue in psychological research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Participants often young and intellectually capable (and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WEIRD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Fictitious example: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US" i="1" baseline="-25000" noProof="1">
                <a:ea typeface="Open Sans" panose="020B0606030504020204" pitchFamily="34" charset="0"/>
                <a:cs typeface="Open Sans" panose="020B0606030504020204" pitchFamily="34" charset="0"/>
              </a:rPr>
              <a:t>true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= .30 between age and working memory is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US" i="1" baseline="-25000" noProof="1">
                <a:ea typeface="Open Sans" panose="020B0606030504020204" pitchFamily="34" charset="0"/>
                <a:cs typeface="Open Sans" panose="020B0606030504020204" pitchFamily="34" charset="0"/>
              </a:rPr>
              <a:t>obs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= .27 due to reliability issues, and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US" i="1" baseline="-25000" noProof="1">
                <a:ea typeface="Open Sans" panose="020B0606030504020204" pitchFamily="34" charset="0"/>
                <a:cs typeface="Open Sans" panose="020B0606030504020204" pitchFamily="34" charset="0"/>
              </a:rPr>
              <a:t>obs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= .22/.18 due to range restriction (only young/young and capable individuals)</a:t>
            </a:r>
          </a:p>
          <a:p>
            <a:pPr marL="268288" lvl="1" indent="-268288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Consequences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examine individuals from general population (</a:t>
            </a:r>
            <a:r>
              <a:rPr lang="en-US" b="1" noProof="1">
                <a:ea typeface="Open Sans" panose="020B0606030504020204" pitchFamily="34" charset="0"/>
                <a:cs typeface="Open Sans" panose="020B0606030504020204" pitchFamily="34" charset="0"/>
              </a:rPr>
              <a:t>not 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psychology plus architecture and engineering students ;-) 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if variances in general population are known, correct observed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r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for range restriction (easiest case, variance restriction only in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en-US" b="1" noProof="1">
              <a:solidFill>
                <a:schemeClr val="accent2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1" indent="0">
              <a:spcBef>
                <a:spcPts val="1200"/>
              </a:spcBef>
              <a:buNone/>
            </a:pPr>
            <a:endParaRPr lang="en-US" sz="1800" b="1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59DCA8A-CB62-E27C-0C78-D396E144EB5C}"/>
              </a:ext>
            </a:extLst>
          </p:cNvPr>
          <p:cNvSpPr txBox="1"/>
          <p:nvPr/>
        </p:nvSpPr>
        <p:spPr>
          <a:xfrm rot="16200000">
            <a:off x="10229663" y="3305888"/>
            <a:ext cx="285403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Aft>
                <a:spcPts val="1200"/>
              </a:spcAft>
              <a:defRPr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data simulated with R</a:t>
            </a:r>
            <a:endParaRPr lang="en-US" sz="1000" b="1" dirty="0">
              <a:solidFill>
                <a:schemeClr val="bg1">
                  <a:lumMod val="50000"/>
                </a:schemeClr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0A25FCB-D782-6262-93A4-EFB7615D8111}"/>
              </a:ext>
            </a:extLst>
          </p:cNvPr>
          <p:cNvSpPr/>
          <p:nvPr/>
        </p:nvSpPr>
        <p:spPr>
          <a:xfrm>
            <a:off x="0" y="6109487"/>
            <a:ext cx="12192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Details and further correction methods: Carretta, T. R. &amp; Ree, M. J. (2022). </a:t>
            </a: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Milit Psychol, 34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(5), 551–569.</a:t>
            </a:r>
            <a:b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  <a:hlinkClick r:id="rId3"/>
              </a:rPr>
              <a:t>https://doi.org/10.1080/08995605.2021.2022067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FEEDDB6-EE3E-3FCF-6671-2474BFD80B6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t="32627" b="33074"/>
          <a:stretch>
            <a:fillRect/>
          </a:stretch>
        </p:blipFill>
        <p:spPr>
          <a:xfrm>
            <a:off x="8680606" y="2841917"/>
            <a:ext cx="1365092" cy="160019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BC83C9E2-7727-BAD1-4C1F-4BF28B982D45}"/>
              </a:ext>
            </a:extLst>
          </p:cNvPr>
          <p:cNvSpPr txBox="1"/>
          <p:nvPr/>
        </p:nvSpPr>
        <p:spPr>
          <a:xfrm>
            <a:off x="10036806" y="3459551"/>
            <a:ext cx="1205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unrestricted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30C69407-EBC7-AD15-F365-904FA827DA4B}"/>
              </a:ext>
            </a:extLst>
          </p:cNvPr>
          <p:cNvGrpSpPr/>
          <p:nvPr/>
        </p:nvGrpSpPr>
        <p:grpSpPr>
          <a:xfrm>
            <a:off x="8680606" y="1319731"/>
            <a:ext cx="2774793" cy="1522186"/>
            <a:chOff x="8680606" y="1319731"/>
            <a:chExt cx="2774793" cy="1522186"/>
          </a:xfrm>
        </p:grpSpPr>
        <p:pic>
          <p:nvPicPr>
            <p:cNvPr id="22" name="Grafik 21">
              <a:extLst>
                <a:ext uri="{FF2B5EF4-FFF2-40B4-BE49-F238E27FC236}">
                  <a16:creationId xmlns:a16="http://schemas.microsoft.com/office/drawing/2014/main" id="{0E426227-D22F-86CD-B203-2ED348FA4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b="67373"/>
            <a:stretch>
              <a:fillRect/>
            </a:stretch>
          </p:blipFill>
          <p:spPr>
            <a:xfrm>
              <a:off x="8680606" y="1319731"/>
              <a:ext cx="1365092" cy="1522186"/>
            </a:xfrm>
            <a:prstGeom prst="rect">
              <a:avLst/>
            </a:prstGeom>
          </p:spPr>
        </p:pic>
        <p:cxnSp>
          <p:nvCxnSpPr>
            <p:cNvPr id="5" name="Gerade Verbindung 4">
              <a:extLst>
                <a:ext uri="{FF2B5EF4-FFF2-40B4-BE49-F238E27FC236}">
                  <a16:creationId xmlns:a16="http://schemas.microsoft.com/office/drawing/2014/main" id="{66EE5BFB-DAAD-5F1F-76CD-BA9676590728}"/>
                </a:ext>
              </a:extLst>
            </p:cNvPr>
            <p:cNvCxnSpPr/>
            <p:nvPr/>
          </p:nvCxnSpPr>
          <p:spPr>
            <a:xfrm>
              <a:off x="9462653" y="1491240"/>
              <a:ext cx="0" cy="1044000"/>
            </a:xfrm>
            <a:prstGeom prst="line">
              <a:avLst/>
            </a:prstGeom>
            <a:ln w="127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1B08C61B-EF56-923C-5D94-DF7B0AE3278E}"/>
                </a:ext>
              </a:extLst>
            </p:cNvPr>
            <p:cNvSpPr txBox="1"/>
            <p:nvPr/>
          </p:nvSpPr>
          <p:spPr>
            <a:xfrm>
              <a:off x="10036806" y="1848091"/>
              <a:ext cx="1418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restricted by X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AA869BB-CE9E-47FB-7B9A-5F4FEA6DA560}"/>
              </a:ext>
            </a:extLst>
          </p:cNvPr>
          <p:cNvGrpSpPr/>
          <p:nvPr/>
        </p:nvGrpSpPr>
        <p:grpSpPr>
          <a:xfrm>
            <a:off x="8680606" y="4461164"/>
            <a:ext cx="3059743" cy="1523999"/>
            <a:chOff x="8680606" y="4461164"/>
            <a:chExt cx="3059743" cy="1523999"/>
          </a:xfrm>
        </p:grpSpPr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BF3D5555-9D8C-75F5-491A-A3BF95747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rcRect t="67334"/>
            <a:stretch>
              <a:fillRect/>
            </a:stretch>
          </p:blipFill>
          <p:spPr>
            <a:xfrm>
              <a:off x="8680606" y="4461164"/>
              <a:ext cx="1365092" cy="1523999"/>
            </a:xfrm>
            <a:prstGeom prst="rect">
              <a:avLst/>
            </a:prstGeom>
          </p:spPr>
        </p:pic>
        <p:cxnSp>
          <p:nvCxnSpPr>
            <p:cNvPr id="6" name="Gerade Verbindung 5">
              <a:extLst>
                <a:ext uri="{FF2B5EF4-FFF2-40B4-BE49-F238E27FC236}">
                  <a16:creationId xmlns:a16="http://schemas.microsoft.com/office/drawing/2014/main" id="{DBE3EC40-E732-9566-C3E8-B9FB30DD4481}"/>
                </a:ext>
              </a:extLst>
            </p:cNvPr>
            <p:cNvCxnSpPr/>
            <p:nvPr/>
          </p:nvCxnSpPr>
          <p:spPr>
            <a:xfrm>
              <a:off x="9462653" y="4691640"/>
              <a:ext cx="0" cy="1044000"/>
            </a:xfrm>
            <a:prstGeom prst="line">
              <a:avLst/>
            </a:prstGeom>
            <a:ln w="127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8">
              <a:extLst>
                <a:ext uri="{FF2B5EF4-FFF2-40B4-BE49-F238E27FC236}">
                  <a16:creationId xmlns:a16="http://schemas.microsoft.com/office/drawing/2014/main" id="{D7B03046-2B91-AE79-437F-95492A2AC2E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462653" y="4691640"/>
              <a:ext cx="0" cy="1044000"/>
            </a:xfrm>
            <a:prstGeom prst="line">
              <a:avLst/>
            </a:prstGeom>
            <a:ln w="12700">
              <a:solidFill>
                <a:srgbClr val="C0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F080C65A-8D3F-8D8F-3CA4-CAC498920D1A}"/>
                </a:ext>
              </a:extLst>
            </p:cNvPr>
            <p:cNvSpPr txBox="1"/>
            <p:nvPr/>
          </p:nvSpPr>
          <p:spPr>
            <a:xfrm>
              <a:off x="10036806" y="5059751"/>
              <a:ext cx="17035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restricted by X &amp; Y</a:t>
              </a:r>
            </a:p>
          </p:txBody>
        </p:sp>
      </p:grpSp>
      <p:pic>
        <p:nvPicPr>
          <p:cNvPr id="21" name="Grafik 20">
            <a:extLst>
              <a:ext uri="{FF2B5EF4-FFF2-40B4-BE49-F238E27FC236}">
                <a16:creationId xmlns:a16="http://schemas.microsoft.com/office/drawing/2014/main" id="{7AFED15D-3916-F5B0-FFA8-26D4BBD723C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26074" y="5488584"/>
            <a:ext cx="2227828" cy="450105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EF5A5CA1-8DAB-6572-DD2A-3D909CEB6F8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2526" r="66947" b="32714"/>
          <a:stretch>
            <a:fillRect/>
          </a:stretch>
        </p:blipFill>
        <p:spPr>
          <a:xfrm>
            <a:off x="7224555" y="2841917"/>
            <a:ext cx="1403898" cy="161924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3030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4A0E0-0A2E-B8C5-DA2E-5B1BB10F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916D416-4B2D-A215-7249-070D4C0B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noProof="1"/>
              <a:t>Weak associations between personality and neurocognitive measures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Conceptual issues: </a:t>
            </a:r>
            <a:r>
              <a:rPr lang="en-US" b="0" noProof="1">
                <a:ea typeface="Open Sans" panose="020B0606030504020204" pitchFamily="34" charset="0"/>
                <a:cs typeface="Open Sans" panose="020B0606030504020204" pitchFamily="34" charset="0"/>
              </a:rPr>
              <a:t>Brunswik asymmetry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80EB461C-C8BF-8B78-D97D-D4CE947EB5D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6635698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Brunswik asymmetry (in terms of generality)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correlations between a trait and a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specific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behavior are often smaller than those between the trait and more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general 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behavior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Generality asymmetry is often a problem in psychology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example here: we try to link a rather broad trait like Need for Cognition (NFC) to very specific EEG measures in a novelty oddball task (here: the late P3a in some block at some electrode)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B3923DD-5DD3-63F9-3EE6-828AC7759EAB}"/>
              </a:ext>
            </a:extLst>
          </p:cNvPr>
          <p:cNvSpPr/>
          <p:nvPr/>
        </p:nvSpPr>
        <p:spPr>
          <a:xfrm>
            <a:off x="0" y="6125671"/>
            <a:ext cx="12192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unpublished results from an investigation into the relation of NFC and the Novelty lP3a, see</a:t>
            </a:r>
            <a:b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</a:b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Enge, S. et al (2008). </a:t>
            </a:r>
            <a:r>
              <a:rPr lang="en-US" sz="1600" i="1" noProof="1">
                <a:solidFill>
                  <a:schemeClr val="bg1">
                    <a:lumMod val="50000"/>
                  </a:schemeClr>
                </a:solidFill>
                <a:latin typeface="+mj-lt"/>
                <a:ea typeface="Open Sans Normal" charset="0"/>
                <a:cs typeface="Open Sans Normal" charset="0"/>
              </a:rPr>
              <a:t>PSPB, </a:t>
            </a:r>
            <a:r>
              <a:rPr lang="en-US" sz="1600" i="1" noProof="1">
                <a:solidFill>
                  <a:schemeClr val="bg1">
                    <a:lumMod val="50000"/>
                  </a:schemeClr>
                </a:solidFill>
                <a:latin typeface="+mj-lt"/>
              </a:rPr>
              <a:t>34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+mj-lt"/>
              </a:rPr>
              <a:t>(6), 862-874. 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+mj-lt"/>
                <a:hlinkClick r:id="rId3"/>
              </a:rPr>
              <a:t>https://doi.org/10.1177/0146167208315556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endParaRPr lang="en-US" sz="1600" b="1" noProof="1">
              <a:solidFill>
                <a:schemeClr val="bg1">
                  <a:lumMod val="50000"/>
                </a:schemeClr>
              </a:solidFill>
              <a:latin typeface="+mj-lt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grpSp>
        <p:nvGrpSpPr>
          <p:cNvPr id="148" name="Gruppieren 147">
            <a:extLst>
              <a:ext uri="{FF2B5EF4-FFF2-40B4-BE49-F238E27FC236}">
                <a16:creationId xmlns:a16="http://schemas.microsoft.com/office/drawing/2014/main" id="{733F7C02-20E6-9F86-4D0C-49BF542C3D9E}"/>
              </a:ext>
            </a:extLst>
          </p:cNvPr>
          <p:cNvGrpSpPr/>
          <p:nvPr/>
        </p:nvGrpSpPr>
        <p:grpSpPr>
          <a:xfrm>
            <a:off x="7682344" y="1145127"/>
            <a:ext cx="3849454" cy="4698009"/>
            <a:chOff x="7682344" y="1145127"/>
            <a:chExt cx="3849454" cy="4698009"/>
          </a:xfrm>
        </p:grpSpPr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B283DC89-485A-55F2-DB55-470001350F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2344" y="3390949"/>
              <a:ext cx="576000" cy="576000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600" noProof="1">
                  <a:solidFill>
                    <a:schemeClr val="accent2"/>
                  </a:solidFill>
                </a:rPr>
                <a:t>NFC</a:t>
              </a:r>
            </a:p>
          </p:txBody>
        </p:sp>
        <p:cxnSp>
          <p:nvCxnSpPr>
            <p:cNvPr id="99" name="Gerade Verbindung mit Pfeil 98">
              <a:extLst>
                <a:ext uri="{FF2B5EF4-FFF2-40B4-BE49-F238E27FC236}">
                  <a16:creationId xmlns:a16="http://schemas.microsoft.com/office/drawing/2014/main" id="{A5AEFBD6-0D60-A249-17A8-F2512C5588BB}"/>
                </a:ext>
              </a:extLst>
            </p:cNvPr>
            <p:cNvCxnSpPr>
              <a:cxnSpLocks/>
              <a:stCxn id="54" idx="3"/>
              <a:endCxn id="8" idx="1"/>
            </p:cNvCxnSpPr>
            <p:nvPr/>
          </p:nvCxnSpPr>
          <p:spPr>
            <a:xfrm flipV="1">
              <a:off x="8258344" y="1610313"/>
              <a:ext cx="2947890" cy="2068636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rade Verbindung mit Pfeil 98">
              <a:extLst>
                <a:ext uri="{FF2B5EF4-FFF2-40B4-BE49-F238E27FC236}">
                  <a16:creationId xmlns:a16="http://schemas.microsoft.com/office/drawing/2014/main" id="{B7C5416E-2DB3-02B1-6EB5-0326376C4576}"/>
                </a:ext>
              </a:extLst>
            </p:cNvPr>
            <p:cNvCxnSpPr>
              <a:cxnSpLocks/>
              <a:stCxn id="54" idx="3"/>
              <a:endCxn id="47" idx="1"/>
            </p:cNvCxnSpPr>
            <p:nvPr/>
          </p:nvCxnSpPr>
          <p:spPr>
            <a:xfrm>
              <a:off x="8258344" y="3678949"/>
              <a:ext cx="2947890" cy="2038187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996642A0-3493-8406-3B56-287F1FCB3CB9}"/>
                </a:ext>
              </a:extLst>
            </p:cNvPr>
            <p:cNvSpPr txBox="1"/>
            <p:nvPr/>
          </p:nvSpPr>
          <p:spPr>
            <a:xfrm>
              <a:off x="10368746" y="1523847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noProof="1">
                  <a:solidFill>
                    <a:schemeClr val="accent2"/>
                  </a:solidFill>
                </a:rPr>
                <a:t>.20</a:t>
              </a:r>
              <a:endParaRPr lang="en-US" noProof="1">
                <a:solidFill>
                  <a:schemeClr val="accent2"/>
                </a:solidFill>
              </a:endParaRPr>
            </a:p>
          </p:txBody>
        </p:sp>
        <p:sp>
          <p:nvSpPr>
            <p:cNvPr id="118" name="Textfeld 117">
              <a:extLst>
                <a:ext uri="{FF2B5EF4-FFF2-40B4-BE49-F238E27FC236}">
                  <a16:creationId xmlns:a16="http://schemas.microsoft.com/office/drawing/2014/main" id="{8AF3FB21-10B7-E023-3F36-A9CCD03FE1DE}"/>
                </a:ext>
              </a:extLst>
            </p:cNvPr>
            <p:cNvSpPr txBox="1"/>
            <p:nvPr/>
          </p:nvSpPr>
          <p:spPr>
            <a:xfrm>
              <a:off x="10368746" y="5625985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b="1" noProof="1">
                  <a:solidFill>
                    <a:schemeClr val="accent2"/>
                  </a:solidFill>
                </a:rPr>
                <a:t>.22</a:t>
              </a:r>
              <a:endParaRPr lang="en-US" b="1" noProof="1">
                <a:solidFill>
                  <a:schemeClr val="accent2"/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8EDD9D36-569F-C3AF-AA33-B5773EFF2A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1484313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Fz</a:t>
              </a:r>
            </a:p>
          </p:txBody>
        </p:sp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4C7BAB0F-B048-6B18-573E-53B25B28FC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5591136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Pz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151117F6-DC5B-7DD7-290B-6364ACF800A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2951965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Cz</a:t>
              </a: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D2F4AA0A-3CFE-612F-D2DD-74F020787F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4130283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Cz</a:t>
              </a:r>
            </a:p>
          </p:txBody>
        </p:sp>
        <p:cxnSp>
          <p:nvCxnSpPr>
            <p:cNvPr id="24" name="Gerade Verbindung mit Pfeil 98">
              <a:extLst>
                <a:ext uri="{FF2B5EF4-FFF2-40B4-BE49-F238E27FC236}">
                  <a16:creationId xmlns:a16="http://schemas.microsoft.com/office/drawing/2014/main" id="{4CB98C3E-A1F1-1B77-A85F-5B865BCB54F2}"/>
                </a:ext>
              </a:extLst>
            </p:cNvPr>
            <p:cNvCxnSpPr>
              <a:cxnSpLocks/>
              <a:stCxn id="54" idx="3"/>
              <a:endCxn id="22" idx="1"/>
            </p:cNvCxnSpPr>
            <p:nvPr/>
          </p:nvCxnSpPr>
          <p:spPr>
            <a:xfrm flipV="1">
              <a:off x="8258344" y="3077965"/>
              <a:ext cx="2947890" cy="600984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98">
              <a:extLst>
                <a:ext uri="{FF2B5EF4-FFF2-40B4-BE49-F238E27FC236}">
                  <a16:creationId xmlns:a16="http://schemas.microsoft.com/office/drawing/2014/main" id="{04CEBF21-04D3-76C6-1BA1-4AF7D3A8C60D}"/>
                </a:ext>
              </a:extLst>
            </p:cNvPr>
            <p:cNvCxnSpPr>
              <a:cxnSpLocks/>
              <a:stCxn id="54" idx="3"/>
              <a:endCxn id="23" idx="1"/>
            </p:cNvCxnSpPr>
            <p:nvPr/>
          </p:nvCxnSpPr>
          <p:spPr>
            <a:xfrm>
              <a:off x="8258344" y="3678949"/>
              <a:ext cx="2947890" cy="577334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05E125F3-F0BF-D954-B2E3-EB40DE0E9EDE}"/>
                </a:ext>
              </a:extLst>
            </p:cNvPr>
            <p:cNvSpPr txBox="1"/>
            <p:nvPr/>
          </p:nvSpPr>
          <p:spPr>
            <a:xfrm>
              <a:off x="10368746" y="4172593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b="1" noProof="1">
                  <a:solidFill>
                    <a:schemeClr val="accent2"/>
                  </a:solidFill>
                </a:rPr>
                <a:t>.22</a:t>
              </a:r>
              <a:endParaRPr lang="en-US" b="1" noProof="1">
                <a:solidFill>
                  <a:schemeClr val="accent2"/>
                </a:solidFill>
              </a:endParaRP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3646C604-024F-63A4-C70B-96A4CDC114D7}"/>
                </a:ext>
              </a:extLst>
            </p:cNvPr>
            <p:cNvSpPr txBox="1"/>
            <p:nvPr/>
          </p:nvSpPr>
          <p:spPr>
            <a:xfrm>
              <a:off x="10368746" y="2984450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b="1" noProof="1">
                  <a:solidFill>
                    <a:schemeClr val="accent2"/>
                  </a:solidFill>
                </a:rPr>
                <a:t>.27</a:t>
              </a:r>
              <a:endParaRPr lang="en-US" b="1" noProof="1">
                <a:solidFill>
                  <a:schemeClr val="accent2"/>
                </a:solidFill>
              </a:endParaRPr>
            </a:p>
          </p:txBody>
        </p:sp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D656C3C8-D5F2-9D73-598E-0896E4F9AD0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1773647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Cz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18F1A913-7B2E-3E97-2BC3-451A257CDE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2056182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Pz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135B1B12-23EB-C25B-FBB9-8DE56F4E01B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2662631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Fz</a:t>
              </a: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7D6BDA2A-2438-0627-2D1B-97DDAF92D0D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3234500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Pz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2A33B65F-C89C-368F-B92B-435CE05FB5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3840949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Fz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FCAAE126-2DDE-F7F6-93B2-2A421A587E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4412818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Pz</a:t>
              </a: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96D509C2-0A96-AE87-2233-95453A0D9F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5019267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Fz</a:t>
              </a: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6BFDC930-B757-F629-96CE-2ED279B969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06234" y="5308601"/>
              <a:ext cx="252000" cy="25200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200" noProof="1">
                  <a:solidFill>
                    <a:schemeClr val="bg1">
                      <a:lumMod val="50000"/>
                    </a:schemeClr>
                  </a:solidFill>
                </a:rPr>
                <a:t>Cz</a:t>
              </a:r>
            </a:p>
          </p:txBody>
        </p:sp>
        <p:cxnSp>
          <p:nvCxnSpPr>
            <p:cNvPr id="61" name="Gerade Verbindung mit Pfeil 98">
              <a:extLst>
                <a:ext uri="{FF2B5EF4-FFF2-40B4-BE49-F238E27FC236}">
                  <a16:creationId xmlns:a16="http://schemas.microsoft.com/office/drawing/2014/main" id="{2893187A-B334-B97A-6160-3022A49B9BE0}"/>
                </a:ext>
              </a:extLst>
            </p:cNvPr>
            <p:cNvCxnSpPr>
              <a:cxnSpLocks/>
              <a:stCxn id="54" idx="3"/>
              <a:endCxn id="35" idx="1"/>
            </p:cNvCxnSpPr>
            <p:nvPr/>
          </p:nvCxnSpPr>
          <p:spPr>
            <a:xfrm flipV="1">
              <a:off x="8258344" y="1899647"/>
              <a:ext cx="2947890" cy="1779302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 Verbindung mit Pfeil 98">
              <a:extLst>
                <a:ext uri="{FF2B5EF4-FFF2-40B4-BE49-F238E27FC236}">
                  <a16:creationId xmlns:a16="http://schemas.microsoft.com/office/drawing/2014/main" id="{EF1C21D6-C7D8-968F-3161-53CF700B291A}"/>
                </a:ext>
              </a:extLst>
            </p:cNvPr>
            <p:cNvCxnSpPr>
              <a:cxnSpLocks/>
              <a:stCxn id="54" idx="3"/>
              <a:endCxn id="36" idx="1"/>
            </p:cNvCxnSpPr>
            <p:nvPr/>
          </p:nvCxnSpPr>
          <p:spPr>
            <a:xfrm flipV="1">
              <a:off x="8258344" y="2182182"/>
              <a:ext cx="2947890" cy="1496767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mit Pfeil 98">
              <a:extLst>
                <a:ext uri="{FF2B5EF4-FFF2-40B4-BE49-F238E27FC236}">
                  <a16:creationId xmlns:a16="http://schemas.microsoft.com/office/drawing/2014/main" id="{CA08D1EF-0019-FB58-0D0A-0D8CA3922341}"/>
                </a:ext>
              </a:extLst>
            </p:cNvPr>
            <p:cNvCxnSpPr>
              <a:cxnSpLocks/>
              <a:stCxn id="54" idx="3"/>
              <a:endCxn id="37" idx="1"/>
            </p:cNvCxnSpPr>
            <p:nvPr/>
          </p:nvCxnSpPr>
          <p:spPr>
            <a:xfrm flipV="1">
              <a:off x="8258344" y="2788631"/>
              <a:ext cx="2947890" cy="890318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98">
              <a:extLst>
                <a:ext uri="{FF2B5EF4-FFF2-40B4-BE49-F238E27FC236}">
                  <a16:creationId xmlns:a16="http://schemas.microsoft.com/office/drawing/2014/main" id="{80700110-F376-4AB2-D9C8-67C5E1D18075}"/>
                </a:ext>
              </a:extLst>
            </p:cNvPr>
            <p:cNvCxnSpPr>
              <a:cxnSpLocks/>
              <a:stCxn id="54" idx="3"/>
              <a:endCxn id="38" idx="1"/>
            </p:cNvCxnSpPr>
            <p:nvPr/>
          </p:nvCxnSpPr>
          <p:spPr>
            <a:xfrm flipV="1">
              <a:off x="8258344" y="3360500"/>
              <a:ext cx="2947890" cy="318449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rade Verbindung mit Pfeil 98">
              <a:extLst>
                <a:ext uri="{FF2B5EF4-FFF2-40B4-BE49-F238E27FC236}">
                  <a16:creationId xmlns:a16="http://schemas.microsoft.com/office/drawing/2014/main" id="{EFC34718-4B1A-8562-4AE5-39935B994F6A}"/>
                </a:ext>
              </a:extLst>
            </p:cNvPr>
            <p:cNvCxnSpPr>
              <a:cxnSpLocks/>
              <a:stCxn id="54" idx="3"/>
              <a:endCxn id="52" idx="1"/>
            </p:cNvCxnSpPr>
            <p:nvPr/>
          </p:nvCxnSpPr>
          <p:spPr>
            <a:xfrm>
              <a:off x="8258344" y="3678949"/>
              <a:ext cx="2947890" cy="288000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 Verbindung mit Pfeil 98">
              <a:extLst>
                <a:ext uri="{FF2B5EF4-FFF2-40B4-BE49-F238E27FC236}">
                  <a16:creationId xmlns:a16="http://schemas.microsoft.com/office/drawing/2014/main" id="{F3DB5DD4-E696-05B8-F72E-A79C0706C077}"/>
                </a:ext>
              </a:extLst>
            </p:cNvPr>
            <p:cNvCxnSpPr>
              <a:cxnSpLocks/>
              <a:stCxn id="54" idx="3"/>
              <a:endCxn id="55" idx="1"/>
            </p:cNvCxnSpPr>
            <p:nvPr/>
          </p:nvCxnSpPr>
          <p:spPr>
            <a:xfrm>
              <a:off x="8258344" y="3678949"/>
              <a:ext cx="2947890" cy="859869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mit Pfeil 98">
              <a:extLst>
                <a:ext uri="{FF2B5EF4-FFF2-40B4-BE49-F238E27FC236}">
                  <a16:creationId xmlns:a16="http://schemas.microsoft.com/office/drawing/2014/main" id="{05AD5A86-1231-D234-BEA6-4628F3E7D07D}"/>
                </a:ext>
              </a:extLst>
            </p:cNvPr>
            <p:cNvCxnSpPr>
              <a:cxnSpLocks/>
              <a:stCxn id="54" idx="3"/>
              <a:endCxn id="58" idx="1"/>
            </p:cNvCxnSpPr>
            <p:nvPr/>
          </p:nvCxnSpPr>
          <p:spPr>
            <a:xfrm>
              <a:off x="8258344" y="3678949"/>
              <a:ext cx="2947890" cy="1466318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mit Pfeil 98">
              <a:extLst>
                <a:ext uri="{FF2B5EF4-FFF2-40B4-BE49-F238E27FC236}">
                  <a16:creationId xmlns:a16="http://schemas.microsoft.com/office/drawing/2014/main" id="{0F85F548-0525-FC4E-401D-EDC661000041}"/>
                </a:ext>
              </a:extLst>
            </p:cNvPr>
            <p:cNvCxnSpPr>
              <a:cxnSpLocks/>
              <a:stCxn id="54" idx="3"/>
              <a:endCxn id="59" idx="1"/>
            </p:cNvCxnSpPr>
            <p:nvPr/>
          </p:nvCxnSpPr>
          <p:spPr>
            <a:xfrm>
              <a:off x="8258344" y="3678949"/>
              <a:ext cx="2947890" cy="1755652"/>
            </a:xfrm>
            <a:prstGeom prst="bentConnector3">
              <a:avLst>
                <a:gd name="adj1" fmla="val 50000"/>
              </a:avLst>
            </a:prstGeom>
            <a:ln w="12700">
              <a:gradFill>
                <a:gsLst>
                  <a:gs pos="0">
                    <a:schemeClr val="accent2"/>
                  </a:gs>
                  <a:gs pos="99000">
                    <a:schemeClr val="bg2"/>
                  </a:gs>
                </a:gsLst>
                <a:lin ang="5400000" scaled="1"/>
              </a:gra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feld 124">
              <a:extLst>
                <a:ext uri="{FF2B5EF4-FFF2-40B4-BE49-F238E27FC236}">
                  <a16:creationId xmlns:a16="http://schemas.microsoft.com/office/drawing/2014/main" id="{A311D50E-4166-597D-ACAC-7299741AD14A}"/>
                </a:ext>
              </a:extLst>
            </p:cNvPr>
            <p:cNvSpPr txBox="1"/>
            <p:nvPr/>
          </p:nvSpPr>
          <p:spPr>
            <a:xfrm>
              <a:off x="10368746" y="1807314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b="1" noProof="1">
                  <a:solidFill>
                    <a:schemeClr val="accent2"/>
                  </a:solidFill>
                </a:rPr>
                <a:t>.25</a:t>
              </a:r>
              <a:endParaRPr lang="en-US" b="1" noProof="1">
                <a:solidFill>
                  <a:schemeClr val="accent2"/>
                </a:solidFill>
              </a:endParaRPr>
            </a:p>
          </p:txBody>
        </p:sp>
        <p:sp>
          <p:nvSpPr>
            <p:cNvPr id="139" name="Textfeld 138">
              <a:extLst>
                <a:ext uri="{FF2B5EF4-FFF2-40B4-BE49-F238E27FC236}">
                  <a16:creationId xmlns:a16="http://schemas.microsoft.com/office/drawing/2014/main" id="{B6F4C5DA-5833-91F7-8499-D1E6531027F2}"/>
                </a:ext>
              </a:extLst>
            </p:cNvPr>
            <p:cNvSpPr txBox="1"/>
            <p:nvPr/>
          </p:nvSpPr>
          <p:spPr>
            <a:xfrm>
              <a:off x="10368746" y="2089849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noProof="1">
                  <a:solidFill>
                    <a:schemeClr val="accent2"/>
                  </a:solidFill>
                </a:rPr>
                <a:t>.18</a:t>
              </a:r>
              <a:endParaRPr lang="en-US" noProof="1">
                <a:solidFill>
                  <a:schemeClr val="accent2"/>
                </a:solidFill>
              </a:endParaRPr>
            </a:p>
          </p:txBody>
        </p:sp>
        <p:sp>
          <p:nvSpPr>
            <p:cNvPr id="140" name="Textfeld 139">
              <a:extLst>
                <a:ext uri="{FF2B5EF4-FFF2-40B4-BE49-F238E27FC236}">
                  <a16:creationId xmlns:a16="http://schemas.microsoft.com/office/drawing/2014/main" id="{D1996E37-8025-BA2B-C100-1CEDBF91C311}"/>
                </a:ext>
              </a:extLst>
            </p:cNvPr>
            <p:cNvSpPr txBox="1"/>
            <p:nvPr/>
          </p:nvSpPr>
          <p:spPr>
            <a:xfrm>
              <a:off x="10368746" y="2704412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b="1" noProof="1">
                  <a:solidFill>
                    <a:schemeClr val="accent2"/>
                  </a:solidFill>
                </a:rPr>
                <a:t>.24</a:t>
              </a:r>
              <a:endParaRPr lang="en-US" b="1" noProof="1">
                <a:solidFill>
                  <a:schemeClr val="accent2"/>
                </a:solidFill>
              </a:endParaRPr>
            </a:p>
          </p:txBody>
        </p:sp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C9EE4D55-10B0-8132-7096-476DD8247AFE}"/>
                </a:ext>
              </a:extLst>
            </p:cNvPr>
            <p:cNvSpPr txBox="1"/>
            <p:nvPr/>
          </p:nvSpPr>
          <p:spPr>
            <a:xfrm>
              <a:off x="10368746" y="3270414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noProof="1">
                  <a:solidFill>
                    <a:schemeClr val="accent2"/>
                  </a:solidFill>
                </a:rPr>
                <a:t>.17</a:t>
              </a:r>
              <a:endParaRPr lang="en-US" noProof="1">
                <a:solidFill>
                  <a:schemeClr val="accent2"/>
                </a:solidFill>
              </a:endParaRPr>
            </a:p>
          </p:txBody>
        </p:sp>
        <p:sp>
          <p:nvSpPr>
            <p:cNvPr id="142" name="Textfeld 141">
              <a:extLst>
                <a:ext uri="{FF2B5EF4-FFF2-40B4-BE49-F238E27FC236}">
                  <a16:creationId xmlns:a16="http://schemas.microsoft.com/office/drawing/2014/main" id="{A375609D-2956-AD61-851E-2C3DB3B3623D}"/>
                </a:ext>
              </a:extLst>
            </p:cNvPr>
            <p:cNvSpPr txBox="1"/>
            <p:nvPr/>
          </p:nvSpPr>
          <p:spPr>
            <a:xfrm>
              <a:off x="10368746" y="3879726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noProof="1">
                  <a:solidFill>
                    <a:schemeClr val="accent2"/>
                  </a:solidFill>
                </a:rPr>
                <a:t>.20</a:t>
              </a:r>
              <a:endParaRPr lang="en-US" noProof="1">
                <a:solidFill>
                  <a:schemeClr val="accent2"/>
                </a:solidFill>
              </a:endParaRPr>
            </a:p>
          </p:txBody>
        </p:sp>
        <p:sp>
          <p:nvSpPr>
            <p:cNvPr id="143" name="Textfeld 142">
              <a:extLst>
                <a:ext uri="{FF2B5EF4-FFF2-40B4-BE49-F238E27FC236}">
                  <a16:creationId xmlns:a16="http://schemas.microsoft.com/office/drawing/2014/main" id="{78F73CE5-42C3-B449-40AE-183EB66AC81C}"/>
                </a:ext>
              </a:extLst>
            </p:cNvPr>
            <p:cNvSpPr txBox="1"/>
            <p:nvPr/>
          </p:nvSpPr>
          <p:spPr>
            <a:xfrm>
              <a:off x="10368746" y="4445728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noProof="1">
                  <a:solidFill>
                    <a:schemeClr val="accent2"/>
                  </a:solidFill>
                </a:rPr>
                <a:t>.10</a:t>
              </a:r>
              <a:endParaRPr lang="en-US" noProof="1">
                <a:solidFill>
                  <a:schemeClr val="accent2"/>
                </a:solidFill>
              </a:endParaRPr>
            </a:p>
          </p:txBody>
        </p:sp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E05D927A-F19E-C7BC-669B-F0A3E4813E2C}"/>
                </a:ext>
              </a:extLst>
            </p:cNvPr>
            <p:cNvSpPr txBox="1"/>
            <p:nvPr/>
          </p:nvSpPr>
          <p:spPr>
            <a:xfrm>
              <a:off x="10368746" y="5052021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noProof="1">
                  <a:solidFill>
                    <a:schemeClr val="accent2"/>
                  </a:solidFill>
                </a:rPr>
                <a:t>.22</a:t>
              </a:r>
              <a:endParaRPr lang="en-US" noProof="1">
                <a:solidFill>
                  <a:schemeClr val="accent2"/>
                </a:solidFill>
              </a:endParaRPr>
            </a:p>
          </p:txBody>
        </p:sp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88447F7B-4508-76A0-D3FE-BBBBAFA587AF}"/>
                </a:ext>
              </a:extLst>
            </p:cNvPr>
            <p:cNvSpPr txBox="1"/>
            <p:nvPr/>
          </p:nvSpPr>
          <p:spPr>
            <a:xfrm>
              <a:off x="10368746" y="5334556"/>
              <a:ext cx="290712" cy="18466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 rtlCol="0">
              <a:spAutoFit/>
            </a:bodyPr>
            <a:lstStyle/>
            <a:p>
              <a:r>
                <a:rPr lang="en-US" sz="1200" b="1" noProof="1">
                  <a:solidFill>
                    <a:schemeClr val="accent2"/>
                  </a:solidFill>
                </a:rPr>
                <a:t>.30</a:t>
              </a:r>
              <a:endParaRPr lang="en-US" b="1" noProof="1">
                <a:solidFill>
                  <a:schemeClr val="accent2"/>
                </a:solidFill>
              </a:endParaRPr>
            </a:p>
          </p:txBody>
        </p:sp>
        <p:sp>
          <p:nvSpPr>
            <p:cNvPr id="147" name="Textfeld 146">
              <a:extLst>
                <a:ext uri="{FF2B5EF4-FFF2-40B4-BE49-F238E27FC236}">
                  <a16:creationId xmlns:a16="http://schemas.microsoft.com/office/drawing/2014/main" id="{ABD7A11E-FF52-EF6C-1F30-9E8FA039705D}"/>
                </a:ext>
              </a:extLst>
            </p:cNvPr>
            <p:cNvSpPr txBox="1"/>
            <p:nvPr/>
          </p:nvSpPr>
          <p:spPr>
            <a:xfrm>
              <a:off x="9689627" y="1145127"/>
              <a:ext cx="18421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>
                  <a:solidFill>
                    <a:schemeClr val="accent2"/>
                  </a:solidFill>
                </a:rPr>
                <a:t>lP3a @ 3 Pos x 4 Blocks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029916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9160C-0259-F7D5-94DF-CA9E905F8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117442B-64EB-2333-D3EE-42B19DB4C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noProof="1"/>
              <a:t>Weak associations between personality and neurocognitive measures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Conceptual issues: </a:t>
            </a:r>
            <a:r>
              <a:rPr lang="en-US" b="0" noProof="1">
                <a:ea typeface="Open Sans" panose="020B0606030504020204" pitchFamily="34" charset="0"/>
                <a:cs typeface="Open Sans" panose="020B0606030504020204" pitchFamily="34" charset="0"/>
              </a:rPr>
              <a:t>Brunswik asymmetry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EA45D8C7-D79B-A546-24E4-CFD88D26094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6635698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Brunswik asymmetry (in terms of generality)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correlations between a trait and a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specific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behavior are often smaller than those between the trait and more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general 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behavior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Generality asymmetry is often a problem in psychology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example here: we try to link a rather broad trait like Need for Cognition (NFC) to very specific EEG measures in a novelty oddball task (here: the late P3a in some block at some electrode)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correlations usually smaller for more asymmetrical associations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AFF8C76D-B718-15C1-9CE2-58BB532D328A}"/>
              </a:ext>
            </a:extLst>
          </p:cNvPr>
          <p:cNvSpPr/>
          <p:nvPr/>
        </p:nvSpPr>
        <p:spPr>
          <a:xfrm>
            <a:off x="0" y="6125671"/>
            <a:ext cx="12192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unpublished results from an investigation into the relation of NFC and the Novelty lP3a, see</a:t>
            </a:r>
            <a:b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</a:b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Enge, S. et al (2008). </a:t>
            </a:r>
            <a:r>
              <a:rPr lang="en-US" sz="1600" i="1" noProof="1">
                <a:solidFill>
                  <a:schemeClr val="bg1">
                    <a:lumMod val="50000"/>
                  </a:schemeClr>
                </a:solidFill>
                <a:latin typeface="+mj-lt"/>
                <a:ea typeface="Open Sans Normal" charset="0"/>
                <a:cs typeface="Open Sans Normal" charset="0"/>
              </a:rPr>
              <a:t>PSPB, </a:t>
            </a:r>
            <a:r>
              <a:rPr lang="en-US" sz="1600" i="1" noProof="1">
                <a:solidFill>
                  <a:schemeClr val="bg1">
                    <a:lumMod val="50000"/>
                  </a:schemeClr>
                </a:solidFill>
                <a:latin typeface="+mj-lt"/>
              </a:rPr>
              <a:t>34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+mj-lt"/>
              </a:rPr>
              <a:t>(6), 862-874. 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+mj-lt"/>
                <a:hlinkClick r:id="rId3"/>
              </a:rPr>
              <a:t>https://doi.org/10.1177/0146167208315556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endParaRPr lang="en-US" sz="1600" b="1" noProof="1">
              <a:solidFill>
                <a:schemeClr val="bg1">
                  <a:lumMod val="50000"/>
                </a:schemeClr>
              </a:solidFill>
              <a:latin typeface="+mj-lt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B8660D72-2317-5EED-BE03-D65F33595072}"/>
              </a:ext>
            </a:extLst>
          </p:cNvPr>
          <p:cNvSpPr>
            <a:spLocks noChangeAspect="1"/>
          </p:cNvSpPr>
          <p:nvPr/>
        </p:nvSpPr>
        <p:spPr>
          <a:xfrm>
            <a:off x="7682344" y="3390949"/>
            <a:ext cx="576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1">
                <a:solidFill>
                  <a:schemeClr val="accent2"/>
                </a:solidFill>
              </a:rPr>
              <a:t>NFC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A297C4A-ABB2-6DAB-FA93-F3D63FD0CC82}"/>
              </a:ext>
            </a:extLst>
          </p:cNvPr>
          <p:cNvSpPr>
            <a:spLocks noChangeAspect="1"/>
          </p:cNvSpPr>
          <p:nvPr/>
        </p:nvSpPr>
        <p:spPr>
          <a:xfrm>
            <a:off x="11206234" y="1484313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Fz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217AFB3C-1B2F-B0A8-2060-17C7E2782099}"/>
              </a:ext>
            </a:extLst>
          </p:cNvPr>
          <p:cNvSpPr>
            <a:spLocks noChangeAspect="1"/>
          </p:cNvSpPr>
          <p:nvPr/>
        </p:nvSpPr>
        <p:spPr>
          <a:xfrm>
            <a:off x="11206234" y="5591136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Pz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08C897B-0F04-D53D-A968-FCFE0830D660}"/>
              </a:ext>
            </a:extLst>
          </p:cNvPr>
          <p:cNvSpPr>
            <a:spLocks noChangeAspect="1"/>
          </p:cNvSpPr>
          <p:nvPr/>
        </p:nvSpPr>
        <p:spPr>
          <a:xfrm>
            <a:off x="11206234" y="2951965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Cz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0B2099B-10C0-3753-92A8-771C3D2185C7}"/>
              </a:ext>
            </a:extLst>
          </p:cNvPr>
          <p:cNvSpPr>
            <a:spLocks noChangeAspect="1"/>
          </p:cNvSpPr>
          <p:nvPr/>
        </p:nvSpPr>
        <p:spPr>
          <a:xfrm>
            <a:off x="11206234" y="4130283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Cz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7C78135-F208-7A40-AD03-0F08A50836CB}"/>
              </a:ext>
            </a:extLst>
          </p:cNvPr>
          <p:cNvSpPr>
            <a:spLocks noChangeAspect="1"/>
          </p:cNvSpPr>
          <p:nvPr/>
        </p:nvSpPr>
        <p:spPr>
          <a:xfrm>
            <a:off x="11206234" y="1773647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Cz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2F3545C2-2B68-BC11-D2C4-CF805399127A}"/>
              </a:ext>
            </a:extLst>
          </p:cNvPr>
          <p:cNvSpPr>
            <a:spLocks noChangeAspect="1"/>
          </p:cNvSpPr>
          <p:nvPr/>
        </p:nvSpPr>
        <p:spPr>
          <a:xfrm>
            <a:off x="11206234" y="2056182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Pz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0DD6C18-5F55-9276-F20C-26330057FF89}"/>
              </a:ext>
            </a:extLst>
          </p:cNvPr>
          <p:cNvSpPr>
            <a:spLocks noChangeAspect="1"/>
          </p:cNvSpPr>
          <p:nvPr/>
        </p:nvSpPr>
        <p:spPr>
          <a:xfrm>
            <a:off x="11206234" y="266263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Fz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A3F6894-CA37-A6B0-C17E-1EC17AA67099}"/>
              </a:ext>
            </a:extLst>
          </p:cNvPr>
          <p:cNvSpPr>
            <a:spLocks noChangeAspect="1"/>
          </p:cNvSpPr>
          <p:nvPr/>
        </p:nvSpPr>
        <p:spPr>
          <a:xfrm>
            <a:off x="11206234" y="3234500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Pz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C88A994-422A-872D-F3CC-48908C89144E}"/>
              </a:ext>
            </a:extLst>
          </p:cNvPr>
          <p:cNvSpPr>
            <a:spLocks noChangeAspect="1"/>
          </p:cNvSpPr>
          <p:nvPr/>
        </p:nvSpPr>
        <p:spPr>
          <a:xfrm>
            <a:off x="11206234" y="3840949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Fz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E6C33C07-DFCD-E009-71CE-821686D8475C}"/>
              </a:ext>
            </a:extLst>
          </p:cNvPr>
          <p:cNvSpPr>
            <a:spLocks noChangeAspect="1"/>
          </p:cNvSpPr>
          <p:nvPr/>
        </p:nvSpPr>
        <p:spPr>
          <a:xfrm>
            <a:off x="11206234" y="4412818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Pz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5500577A-C5F5-26A4-F844-A647B08B3792}"/>
              </a:ext>
            </a:extLst>
          </p:cNvPr>
          <p:cNvSpPr>
            <a:spLocks noChangeAspect="1"/>
          </p:cNvSpPr>
          <p:nvPr/>
        </p:nvSpPr>
        <p:spPr>
          <a:xfrm>
            <a:off x="11206234" y="5019267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Fz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32FF0909-3FBB-E76D-B6C0-84969F4172B8}"/>
              </a:ext>
            </a:extLst>
          </p:cNvPr>
          <p:cNvSpPr>
            <a:spLocks noChangeAspect="1"/>
          </p:cNvSpPr>
          <p:nvPr/>
        </p:nvSpPr>
        <p:spPr>
          <a:xfrm>
            <a:off x="11206234" y="5308601"/>
            <a:ext cx="252000" cy="252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noProof="1">
                <a:solidFill>
                  <a:schemeClr val="bg1">
                    <a:lumMod val="50000"/>
                  </a:schemeClr>
                </a:solidFill>
              </a:rPr>
              <a:t>Cz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6E6DDCB-6BF2-482A-0AF4-E659F6D812B2}"/>
              </a:ext>
            </a:extLst>
          </p:cNvPr>
          <p:cNvSpPr>
            <a:spLocks noChangeAspect="1"/>
          </p:cNvSpPr>
          <p:nvPr/>
        </p:nvSpPr>
        <p:spPr>
          <a:xfrm>
            <a:off x="9483435" y="3390949"/>
            <a:ext cx="576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1">
                <a:solidFill>
                  <a:schemeClr val="accent2"/>
                </a:solidFill>
              </a:rPr>
              <a:t>lP3a avg</a:t>
            </a:r>
          </a:p>
        </p:txBody>
      </p:sp>
      <p:sp>
        <p:nvSpPr>
          <p:cNvPr id="6" name="Geschweifte Klammer links 5">
            <a:extLst>
              <a:ext uri="{FF2B5EF4-FFF2-40B4-BE49-F238E27FC236}">
                <a16:creationId xmlns:a16="http://schemas.microsoft.com/office/drawing/2014/main" id="{BB35CEAB-1658-0752-DC36-10D7F9D2ECBE}"/>
              </a:ext>
            </a:extLst>
          </p:cNvPr>
          <p:cNvSpPr/>
          <p:nvPr/>
        </p:nvSpPr>
        <p:spPr>
          <a:xfrm>
            <a:off x="10062645" y="1621631"/>
            <a:ext cx="1031599" cy="4096941"/>
          </a:xfrm>
          <a:prstGeom prst="leftBrace">
            <a:avLst>
              <a:gd name="adj1" fmla="val 0"/>
              <a:gd name="adj2" fmla="val 50000"/>
            </a:avLst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A223EE1-0911-65A1-8636-A41E43E11D22}"/>
              </a:ext>
            </a:extLst>
          </p:cNvPr>
          <p:cNvCxnSpPr>
            <a:stCxn id="54" idx="3"/>
            <a:endCxn id="5" idx="1"/>
          </p:cNvCxnSpPr>
          <p:nvPr/>
        </p:nvCxnSpPr>
        <p:spPr>
          <a:xfrm>
            <a:off x="8258344" y="3678949"/>
            <a:ext cx="1225091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0C3C1204-00E3-3FE2-FF2B-BBDF9420B219}"/>
              </a:ext>
            </a:extLst>
          </p:cNvPr>
          <p:cNvSpPr txBox="1"/>
          <p:nvPr/>
        </p:nvSpPr>
        <p:spPr>
          <a:xfrm>
            <a:off x="8733497" y="3585646"/>
            <a:ext cx="290712" cy="184666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b="1" noProof="1">
                <a:solidFill>
                  <a:schemeClr val="accent2"/>
                </a:solidFill>
              </a:rPr>
              <a:t>.26</a:t>
            </a:r>
            <a:endParaRPr lang="en-US" b="1" noProof="1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2894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2669-CE2E-3AB6-08CF-DD899F11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1C94473-BBB5-1CD6-8867-0A1E3C344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noProof="1"/>
              <a:t>Weak associations between personality and neurocognitive measures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Conceptual issues: </a:t>
            </a:r>
            <a:r>
              <a:rPr lang="en-US" b="0" noProof="1">
                <a:ea typeface="Open Sans" panose="020B0606030504020204" pitchFamily="34" charset="0"/>
                <a:cs typeface="Open Sans" panose="020B0606030504020204" pitchFamily="34" charset="0"/>
              </a:rPr>
              <a:t>Brunswik asymmetry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AEA5865C-D3CE-EF04-59DD-0480C5B60C8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6635698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Brunswik asymmetry (in terms of generality)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correlations between a trait and a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specific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behavior are often smaller than those between the trait and more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general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 behavior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Generality asymmetry is often a problem in psychology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example here: we try to link a rather broad trait like Need for Cognition (NFC) to very specific EEG measures in a novelty oddball task (here: the late P3a in some block at some electrode)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correlations usually smaller for more asymmetrical associations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Consequences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try to associate constructs rather than specific measures via aggregation/structural equation modelling (and by doing so, also get rid of measurement error, see above)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considerably more effort when using more than one measure of IV and DV; arriving at a proper SEM can be a p*** in the a**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B73D468-CCD1-2BB9-E4CB-4DDB4F663A1D}"/>
              </a:ext>
            </a:extLst>
          </p:cNvPr>
          <p:cNvSpPr/>
          <p:nvPr/>
        </p:nvSpPr>
        <p:spPr>
          <a:xfrm>
            <a:off x="0" y="6125671"/>
            <a:ext cx="12192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unpublished results from an investigation into the relation of NFC and the Novelty lP3a, see</a:t>
            </a:r>
            <a:b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</a:b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Enge, S. et al (2008). </a:t>
            </a:r>
            <a:r>
              <a:rPr lang="en-US" sz="1600" i="1" noProof="1">
                <a:solidFill>
                  <a:schemeClr val="bg1">
                    <a:lumMod val="50000"/>
                  </a:schemeClr>
                </a:solidFill>
                <a:latin typeface="+mj-lt"/>
                <a:ea typeface="Open Sans Normal" charset="0"/>
                <a:cs typeface="Open Sans Normal" charset="0"/>
              </a:rPr>
              <a:t>PSPB, </a:t>
            </a:r>
            <a:r>
              <a:rPr lang="en-US" sz="1600" i="1" noProof="1">
                <a:solidFill>
                  <a:schemeClr val="bg1">
                    <a:lumMod val="50000"/>
                  </a:schemeClr>
                </a:solidFill>
                <a:latin typeface="+mj-lt"/>
              </a:rPr>
              <a:t>34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+mj-lt"/>
              </a:rPr>
              <a:t>(6), 862-874. 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+mj-lt"/>
                <a:hlinkClick r:id="rId3"/>
              </a:rPr>
              <a:t>https://doi.org/10.1177/0146167208315556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+mj-lt"/>
              </a:rPr>
              <a:t> </a:t>
            </a:r>
            <a:endParaRPr lang="en-US" sz="1600" b="1" noProof="1">
              <a:solidFill>
                <a:schemeClr val="bg1">
                  <a:lumMod val="50000"/>
                </a:schemeClr>
              </a:solidFill>
              <a:latin typeface="+mj-lt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2C820431-F413-3160-5371-A93BD103E8ED}"/>
              </a:ext>
            </a:extLst>
          </p:cNvPr>
          <p:cNvCxnSpPr>
            <a:cxnSpLocks/>
            <a:endCxn id="149" idx="2"/>
          </p:cNvCxnSpPr>
          <p:nvPr/>
        </p:nvCxnSpPr>
        <p:spPr>
          <a:xfrm>
            <a:off x="8258344" y="3679792"/>
            <a:ext cx="1223034" cy="1889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7" name="Gruppieren 136">
            <a:extLst>
              <a:ext uri="{FF2B5EF4-FFF2-40B4-BE49-F238E27FC236}">
                <a16:creationId xmlns:a16="http://schemas.microsoft.com/office/drawing/2014/main" id="{FE29FBB9-E3D7-82BC-AAE3-DB2A0BE02429}"/>
              </a:ext>
            </a:extLst>
          </p:cNvPr>
          <p:cNvGrpSpPr/>
          <p:nvPr/>
        </p:nvGrpSpPr>
        <p:grpSpPr>
          <a:xfrm>
            <a:off x="10059434" y="1484313"/>
            <a:ext cx="1566510" cy="4358823"/>
            <a:chOff x="10059434" y="1484313"/>
            <a:chExt cx="1566510" cy="4358823"/>
          </a:xfrm>
        </p:grpSpPr>
        <p:grpSp>
          <p:nvGrpSpPr>
            <p:cNvPr id="119" name="Gruppieren 118">
              <a:extLst>
                <a:ext uri="{FF2B5EF4-FFF2-40B4-BE49-F238E27FC236}">
                  <a16:creationId xmlns:a16="http://schemas.microsoft.com/office/drawing/2014/main" id="{FC5F0566-0A0C-46F0-8FE2-570484E12CF0}"/>
                </a:ext>
              </a:extLst>
            </p:cNvPr>
            <p:cNvGrpSpPr/>
            <p:nvPr/>
          </p:nvGrpSpPr>
          <p:grpSpPr>
            <a:xfrm>
              <a:off x="10059434" y="1484313"/>
              <a:ext cx="1398800" cy="4358823"/>
              <a:chOff x="10059434" y="1484313"/>
              <a:chExt cx="1398800" cy="4358823"/>
            </a:xfrm>
          </p:grpSpPr>
          <p:grpSp>
            <p:nvGrpSpPr>
              <p:cNvPr id="11" name="Gruppieren 10">
                <a:extLst>
                  <a:ext uri="{FF2B5EF4-FFF2-40B4-BE49-F238E27FC236}">
                    <a16:creationId xmlns:a16="http://schemas.microsoft.com/office/drawing/2014/main" id="{D5926448-B8EA-DBC8-236C-227F83247984}"/>
                  </a:ext>
                </a:extLst>
              </p:cNvPr>
              <p:cNvGrpSpPr/>
              <p:nvPr/>
            </p:nvGrpSpPr>
            <p:grpSpPr>
              <a:xfrm>
                <a:off x="11206234" y="1484313"/>
                <a:ext cx="252000" cy="823869"/>
                <a:chOff x="11095400" y="1484313"/>
                <a:chExt cx="252000" cy="823869"/>
              </a:xfrm>
            </p:grpSpPr>
            <p:sp>
              <p:nvSpPr>
                <p:cNvPr id="8" name="Rechteck 7">
                  <a:extLst>
                    <a:ext uri="{FF2B5EF4-FFF2-40B4-BE49-F238E27FC236}">
                      <a16:creationId xmlns:a16="http://schemas.microsoft.com/office/drawing/2014/main" id="{7FD8FBE9-C169-32FF-89B8-D8DDBAD8CE2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1484313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Fz</a:t>
                  </a:r>
                </a:p>
              </p:txBody>
            </p:sp>
            <p:sp>
              <p:nvSpPr>
                <p:cNvPr id="9" name="Rechteck 8">
                  <a:extLst>
                    <a:ext uri="{FF2B5EF4-FFF2-40B4-BE49-F238E27FC236}">
                      <a16:creationId xmlns:a16="http://schemas.microsoft.com/office/drawing/2014/main" id="{84E4C51F-0977-6E6C-7E2C-86E062DC5E3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1773647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Cz</a:t>
                  </a:r>
                </a:p>
              </p:txBody>
            </p:sp>
            <p:sp>
              <p:nvSpPr>
                <p:cNvPr id="10" name="Rechteck 9">
                  <a:extLst>
                    <a:ext uri="{FF2B5EF4-FFF2-40B4-BE49-F238E27FC236}">
                      <a16:creationId xmlns:a16="http://schemas.microsoft.com/office/drawing/2014/main" id="{55228647-9873-E54B-455D-72FF80F411F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2056182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Pz</a:t>
                  </a:r>
                </a:p>
              </p:txBody>
            </p:sp>
          </p:grpSp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33AC14AA-68BD-DBBA-D8D7-34A6488CFD52}"/>
                  </a:ext>
                </a:extLst>
              </p:cNvPr>
              <p:cNvGrpSpPr/>
              <p:nvPr/>
            </p:nvGrpSpPr>
            <p:grpSpPr>
              <a:xfrm>
                <a:off x="11206234" y="2662631"/>
                <a:ext cx="252000" cy="823869"/>
                <a:chOff x="11095400" y="1484313"/>
                <a:chExt cx="252000" cy="823869"/>
              </a:xfrm>
            </p:grpSpPr>
            <p:sp>
              <p:nvSpPr>
                <p:cNvPr id="13" name="Rechteck 12">
                  <a:extLst>
                    <a:ext uri="{FF2B5EF4-FFF2-40B4-BE49-F238E27FC236}">
                      <a16:creationId xmlns:a16="http://schemas.microsoft.com/office/drawing/2014/main" id="{1833A302-932E-DB03-9840-2763A90302D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1484313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Fz</a:t>
                  </a:r>
                </a:p>
              </p:txBody>
            </p:sp>
            <p:sp>
              <p:nvSpPr>
                <p:cNvPr id="14" name="Rechteck 13">
                  <a:extLst>
                    <a:ext uri="{FF2B5EF4-FFF2-40B4-BE49-F238E27FC236}">
                      <a16:creationId xmlns:a16="http://schemas.microsoft.com/office/drawing/2014/main" id="{AAC48154-1E5A-2BE4-479A-BCE0E356042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1773647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Cz</a:t>
                  </a:r>
                </a:p>
              </p:txBody>
            </p:sp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28168EBE-FF1C-2CBC-92E0-11ADD378885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2056182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Pz</a:t>
                  </a:r>
                </a:p>
              </p:txBody>
            </p:sp>
          </p:grpSp>
          <p:grpSp>
            <p:nvGrpSpPr>
              <p:cNvPr id="40" name="Gruppieren 39">
                <a:extLst>
                  <a:ext uri="{FF2B5EF4-FFF2-40B4-BE49-F238E27FC236}">
                    <a16:creationId xmlns:a16="http://schemas.microsoft.com/office/drawing/2014/main" id="{7478F728-2CF6-566A-C9BA-E040C275B8A2}"/>
                  </a:ext>
                </a:extLst>
              </p:cNvPr>
              <p:cNvGrpSpPr/>
              <p:nvPr/>
            </p:nvGrpSpPr>
            <p:grpSpPr>
              <a:xfrm>
                <a:off x="11206234" y="3840949"/>
                <a:ext cx="252000" cy="823869"/>
                <a:chOff x="11095400" y="1484313"/>
                <a:chExt cx="252000" cy="823869"/>
              </a:xfrm>
            </p:grpSpPr>
            <p:sp>
              <p:nvSpPr>
                <p:cNvPr id="41" name="Rechteck 40">
                  <a:extLst>
                    <a:ext uri="{FF2B5EF4-FFF2-40B4-BE49-F238E27FC236}">
                      <a16:creationId xmlns:a16="http://schemas.microsoft.com/office/drawing/2014/main" id="{D91D5AE4-3809-870A-FCFE-F89751AE236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1484313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Fz</a:t>
                  </a:r>
                </a:p>
              </p:txBody>
            </p:sp>
            <p:sp>
              <p:nvSpPr>
                <p:cNvPr id="42" name="Rechteck 41">
                  <a:extLst>
                    <a:ext uri="{FF2B5EF4-FFF2-40B4-BE49-F238E27FC236}">
                      <a16:creationId xmlns:a16="http://schemas.microsoft.com/office/drawing/2014/main" id="{C41E5AC4-9CB5-2D48-9C99-3BD61F5F6FF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1773647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Cz</a:t>
                  </a:r>
                </a:p>
              </p:txBody>
            </p:sp>
            <p:sp>
              <p:nvSpPr>
                <p:cNvPr id="43" name="Rechteck 42">
                  <a:extLst>
                    <a:ext uri="{FF2B5EF4-FFF2-40B4-BE49-F238E27FC236}">
                      <a16:creationId xmlns:a16="http://schemas.microsoft.com/office/drawing/2014/main" id="{E3EC2A34-683D-5660-185B-7A902F20A60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2056182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Pz</a:t>
                  </a:r>
                </a:p>
              </p:txBody>
            </p:sp>
          </p:grpSp>
          <p:grpSp>
            <p:nvGrpSpPr>
              <p:cNvPr id="44" name="Gruppieren 43">
                <a:extLst>
                  <a:ext uri="{FF2B5EF4-FFF2-40B4-BE49-F238E27FC236}">
                    <a16:creationId xmlns:a16="http://schemas.microsoft.com/office/drawing/2014/main" id="{54945EFC-7C6C-82A8-3595-6D16F99C033E}"/>
                  </a:ext>
                </a:extLst>
              </p:cNvPr>
              <p:cNvGrpSpPr/>
              <p:nvPr/>
            </p:nvGrpSpPr>
            <p:grpSpPr>
              <a:xfrm>
                <a:off x="11206234" y="5019267"/>
                <a:ext cx="252000" cy="823869"/>
                <a:chOff x="11095400" y="1484313"/>
                <a:chExt cx="252000" cy="823869"/>
              </a:xfrm>
            </p:grpSpPr>
            <p:sp>
              <p:nvSpPr>
                <p:cNvPr id="45" name="Rechteck 44">
                  <a:extLst>
                    <a:ext uri="{FF2B5EF4-FFF2-40B4-BE49-F238E27FC236}">
                      <a16:creationId xmlns:a16="http://schemas.microsoft.com/office/drawing/2014/main" id="{E0D98A62-0AF5-FACE-9E73-019773D803E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1484313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Fz</a:t>
                  </a:r>
                </a:p>
              </p:txBody>
            </p:sp>
            <p:sp>
              <p:nvSpPr>
                <p:cNvPr id="46" name="Rechteck 45">
                  <a:extLst>
                    <a:ext uri="{FF2B5EF4-FFF2-40B4-BE49-F238E27FC236}">
                      <a16:creationId xmlns:a16="http://schemas.microsoft.com/office/drawing/2014/main" id="{527F146D-518A-473C-1D0F-7271D53783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1773647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Cz</a:t>
                  </a:r>
                </a:p>
              </p:txBody>
            </p:sp>
            <p:sp>
              <p:nvSpPr>
                <p:cNvPr id="47" name="Rechteck 46">
                  <a:extLst>
                    <a:ext uri="{FF2B5EF4-FFF2-40B4-BE49-F238E27FC236}">
                      <a16:creationId xmlns:a16="http://schemas.microsoft.com/office/drawing/2014/main" id="{B30D62E9-1AD6-B291-6624-7E3CF7A4C5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1095400" y="2056182"/>
                  <a:ext cx="252000" cy="252000"/>
                </a:xfrm>
                <a:prstGeom prst="rect">
                  <a:avLst/>
                </a:prstGeom>
                <a:noFill/>
                <a:ln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Pz</a:t>
                  </a:r>
                </a:p>
              </p:txBody>
            </p:sp>
          </p:grpSp>
          <p:grpSp>
            <p:nvGrpSpPr>
              <p:cNvPr id="53" name="Gruppieren 52">
                <a:extLst>
                  <a:ext uri="{FF2B5EF4-FFF2-40B4-BE49-F238E27FC236}">
                    <a16:creationId xmlns:a16="http://schemas.microsoft.com/office/drawing/2014/main" id="{24AE1699-FAA4-D5E2-CF07-E8F1459B5536}"/>
                  </a:ext>
                </a:extLst>
              </p:cNvPr>
              <p:cNvGrpSpPr/>
              <p:nvPr/>
            </p:nvGrpSpPr>
            <p:grpSpPr>
              <a:xfrm>
                <a:off x="10467109" y="1719647"/>
                <a:ext cx="360000" cy="3894954"/>
                <a:chOff x="10467109" y="1719647"/>
                <a:chExt cx="360000" cy="3894954"/>
              </a:xfrm>
            </p:grpSpPr>
            <p:sp>
              <p:nvSpPr>
                <p:cNvPr id="48" name="Rechteck 47">
                  <a:extLst>
                    <a:ext uri="{FF2B5EF4-FFF2-40B4-BE49-F238E27FC236}">
                      <a16:creationId xmlns:a16="http://schemas.microsoft.com/office/drawing/2014/main" id="{FD011C9A-B2BD-6A7D-A002-4F36527FC2E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67109" y="1719647"/>
                  <a:ext cx="360000" cy="36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B1</a:t>
                  </a:r>
                </a:p>
              </p:txBody>
            </p:sp>
            <p:sp>
              <p:nvSpPr>
                <p:cNvPr id="49" name="Rechteck 48">
                  <a:extLst>
                    <a:ext uri="{FF2B5EF4-FFF2-40B4-BE49-F238E27FC236}">
                      <a16:creationId xmlns:a16="http://schemas.microsoft.com/office/drawing/2014/main" id="{200C01DE-9197-49CE-75BD-C4D4BF60B85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67109" y="2897965"/>
                  <a:ext cx="360000" cy="36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B2</a:t>
                  </a:r>
                </a:p>
              </p:txBody>
            </p:sp>
            <p:sp>
              <p:nvSpPr>
                <p:cNvPr id="50" name="Rechteck 49">
                  <a:extLst>
                    <a:ext uri="{FF2B5EF4-FFF2-40B4-BE49-F238E27FC236}">
                      <a16:creationId xmlns:a16="http://schemas.microsoft.com/office/drawing/2014/main" id="{1DF77131-D8DD-2FEC-C286-6FB12E27FB7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67109" y="4076283"/>
                  <a:ext cx="360000" cy="36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B3</a:t>
                  </a:r>
                </a:p>
              </p:txBody>
            </p:sp>
            <p:sp>
              <p:nvSpPr>
                <p:cNvPr id="51" name="Rechteck 50">
                  <a:extLst>
                    <a:ext uri="{FF2B5EF4-FFF2-40B4-BE49-F238E27FC236}">
                      <a16:creationId xmlns:a16="http://schemas.microsoft.com/office/drawing/2014/main" id="{C848E0B3-AAE9-1E4F-2D35-E96408D06DB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467109" y="5254601"/>
                  <a:ext cx="360000" cy="36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200" noProof="1">
                      <a:solidFill>
                        <a:schemeClr val="bg1">
                          <a:lumMod val="50000"/>
                        </a:schemeClr>
                      </a:solidFill>
                    </a:rPr>
                    <a:t>B4</a:t>
                  </a:r>
                </a:p>
              </p:txBody>
            </p:sp>
          </p:grpSp>
          <p:grpSp>
            <p:nvGrpSpPr>
              <p:cNvPr id="63" name="Gruppieren 62">
                <a:extLst>
                  <a:ext uri="{FF2B5EF4-FFF2-40B4-BE49-F238E27FC236}">
                    <a16:creationId xmlns:a16="http://schemas.microsoft.com/office/drawing/2014/main" id="{CEF69F0B-7DC3-7238-3D0A-F00EA5DDBE56}"/>
                  </a:ext>
                </a:extLst>
              </p:cNvPr>
              <p:cNvGrpSpPr/>
              <p:nvPr/>
            </p:nvGrpSpPr>
            <p:grpSpPr>
              <a:xfrm>
                <a:off x="10827109" y="1610313"/>
                <a:ext cx="379125" cy="571869"/>
                <a:chOff x="10827109" y="1610313"/>
                <a:chExt cx="379125" cy="571869"/>
              </a:xfrm>
            </p:grpSpPr>
            <p:cxnSp>
              <p:nvCxnSpPr>
                <p:cNvPr id="56" name="Gerade Verbindung mit Pfeil 55">
                  <a:extLst>
                    <a:ext uri="{FF2B5EF4-FFF2-40B4-BE49-F238E27FC236}">
                      <a16:creationId xmlns:a16="http://schemas.microsoft.com/office/drawing/2014/main" id="{EC577D82-B475-1757-DECD-F841699812A3}"/>
                    </a:ext>
                  </a:extLst>
                </p:cNvPr>
                <p:cNvCxnSpPr>
                  <a:stCxn id="48" idx="3"/>
                  <a:endCxn id="8" idx="1"/>
                </p:cNvCxnSpPr>
                <p:nvPr/>
              </p:nvCxnSpPr>
              <p:spPr>
                <a:xfrm flipV="1">
                  <a:off x="10827109" y="1610313"/>
                  <a:ext cx="379125" cy="289334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Gerade Verbindung mit Pfeil 56">
                  <a:extLst>
                    <a:ext uri="{FF2B5EF4-FFF2-40B4-BE49-F238E27FC236}">
                      <a16:creationId xmlns:a16="http://schemas.microsoft.com/office/drawing/2014/main" id="{E9679CBF-8E60-2847-F259-2A76A6BEBA36}"/>
                    </a:ext>
                  </a:extLst>
                </p:cNvPr>
                <p:cNvCxnSpPr>
                  <a:cxnSpLocks/>
                  <a:stCxn id="48" idx="3"/>
                  <a:endCxn id="9" idx="1"/>
                </p:cNvCxnSpPr>
                <p:nvPr/>
              </p:nvCxnSpPr>
              <p:spPr>
                <a:xfrm>
                  <a:off x="10827109" y="1899647"/>
                  <a:ext cx="379125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Gerade Verbindung mit Pfeil 59">
                  <a:extLst>
                    <a:ext uri="{FF2B5EF4-FFF2-40B4-BE49-F238E27FC236}">
                      <a16:creationId xmlns:a16="http://schemas.microsoft.com/office/drawing/2014/main" id="{08BC86D9-4A4B-1F41-8535-AEFD621172FE}"/>
                    </a:ext>
                  </a:extLst>
                </p:cNvPr>
                <p:cNvCxnSpPr>
                  <a:cxnSpLocks/>
                  <a:stCxn id="48" idx="3"/>
                  <a:endCxn id="10" idx="1"/>
                </p:cNvCxnSpPr>
                <p:nvPr/>
              </p:nvCxnSpPr>
              <p:spPr>
                <a:xfrm>
                  <a:off x="10827109" y="1899647"/>
                  <a:ext cx="379125" cy="28253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4" name="Gruppieren 63">
                <a:extLst>
                  <a:ext uri="{FF2B5EF4-FFF2-40B4-BE49-F238E27FC236}">
                    <a16:creationId xmlns:a16="http://schemas.microsoft.com/office/drawing/2014/main" id="{02A3D8A0-9A03-B189-EB32-1EC58E030E83}"/>
                  </a:ext>
                </a:extLst>
              </p:cNvPr>
              <p:cNvGrpSpPr/>
              <p:nvPr/>
            </p:nvGrpSpPr>
            <p:grpSpPr>
              <a:xfrm>
                <a:off x="10827108" y="2803974"/>
                <a:ext cx="379125" cy="571869"/>
                <a:chOff x="10827109" y="1610313"/>
                <a:chExt cx="379125" cy="571869"/>
              </a:xfrm>
            </p:grpSpPr>
            <p:cxnSp>
              <p:nvCxnSpPr>
                <p:cNvPr id="65" name="Gerade Verbindung mit Pfeil 64">
                  <a:extLst>
                    <a:ext uri="{FF2B5EF4-FFF2-40B4-BE49-F238E27FC236}">
                      <a16:creationId xmlns:a16="http://schemas.microsoft.com/office/drawing/2014/main" id="{F233DEA2-0BE2-9546-7B74-531483C7275F}"/>
                    </a:ext>
                  </a:extLst>
                </p:cNvPr>
                <p:cNvCxnSpPr/>
                <p:nvPr/>
              </p:nvCxnSpPr>
              <p:spPr>
                <a:xfrm flipV="1">
                  <a:off x="10827109" y="1610313"/>
                  <a:ext cx="379125" cy="289334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Gerade Verbindung mit Pfeil 65">
                  <a:extLst>
                    <a:ext uri="{FF2B5EF4-FFF2-40B4-BE49-F238E27FC236}">
                      <a16:creationId xmlns:a16="http://schemas.microsoft.com/office/drawing/2014/main" id="{1257D4DE-FC71-0CFB-ABA2-41C0A8B4E8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27109" y="1899647"/>
                  <a:ext cx="379125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Gerade Verbindung mit Pfeil 66">
                  <a:extLst>
                    <a:ext uri="{FF2B5EF4-FFF2-40B4-BE49-F238E27FC236}">
                      <a16:creationId xmlns:a16="http://schemas.microsoft.com/office/drawing/2014/main" id="{DD59B9BF-6D0B-CFE0-E558-3B5753A01F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27109" y="1899647"/>
                  <a:ext cx="379125" cy="28253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8" name="Gruppieren 67">
                <a:extLst>
                  <a:ext uri="{FF2B5EF4-FFF2-40B4-BE49-F238E27FC236}">
                    <a16:creationId xmlns:a16="http://schemas.microsoft.com/office/drawing/2014/main" id="{272137F6-DD92-1DF4-9D01-445713BEFED3}"/>
                  </a:ext>
                </a:extLst>
              </p:cNvPr>
              <p:cNvGrpSpPr/>
              <p:nvPr/>
            </p:nvGrpSpPr>
            <p:grpSpPr>
              <a:xfrm>
                <a:off x="10827108" y="3964259"/>
                <a:ext cx="379125" cy="571869"/>
                <a:chOff x="10827109" y="1610313"/>
                <a:chExt cx="379125" cy="571869"/>
              </a:xfrm>
            </p:grpSpPr>
            <p:cxnSp>
              <p:nvCxnSpPr>
                <p:cNvPr id="69" name="Gerade Verbindung mit Pfeil 68">
                  <a:extLst>
                    <a:ext uri="{FF2B5EF4-FFF2-40B4-BE49-F238E27FC236}">
                      <a16:creationId xmlns:a16="http://schemas.microsoft.com/office/drawing/2014/main" id="{8ECDD558-3CCF-FD30-5B37-E6C0625A8512}"/>
                    </a:ext>
                  </a:extLst>
                </p:cNvPr>
                <p:cNvCxnSpPr/>
                <p:nvPr/>
              </p:nvCxnSpPr>
              <p:spPr>
                <a:xfrm flipV="1">
                  <a:off x="10827109" y="1610313"/>
                  <a:ext cx="379125" cy="289334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Gerade Verbindung mit Pfeil 69">
                  <a:extLst>
                    <a:ext uri="{FF2B5EF4-FFF2-40B4-BE49-F238E27FC236}">
                      <a16:creationId xmlns:a16="http://schemas.microsoft.com/office/drawing/2014/main" id="{9DBD8F05-59A3-1FB5-97FA-AB134D401E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27109" y="1899647"/>
                  <a:ext cx="379125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Gerade Verbindung mit Pfeil 70">
                  <a:extLst>
                    <a:ext uri="{FF2B5EF4-FFF2-40B4-BE49-F238E27FC236}">
                      <a16:creationId xmlns:a16="http://schemas.microsoft.com/office/drawing/2014/main" id="{BFC5757C-0429-0E35-758D-9661F3F849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27109" y="1899647"/>
                  <a:ext cx="379125" cy="28253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Gruppieren 71">
                <a:extLst>
                  <a:ext uri="{FF2B5EF4-FFF2-40B4-BE49-F238E27FC236}">
                    <a16:creationId xmlns:a16="http://schemas.microsoft.com/office/drawing/2014/main" id="{CB78A859-01DD-D92F-E28E-DDCBA2EDA430}"/>
                  </a:ext>
                </a:extLst>
              </p:cNvPr>
              <p:cNvGrpSpPr/>
              <p:nvPr/>
            </p:nvGrpSpPr>
            <p:grpSpPr>
              <a:xfrm>
                <a:off x="10827108" y="5149376"/>
                <a:ext cx="379125" cy="571869"/>
                <a:chOff x="10827109" y="1610313"/>
                <a:chExt cx="379125" cy="571869"/>
              </a:xfrm>
            </p:grpSpPr>
            <p:cxnSp>
              <p:nvCxnSpPr>
                <p:cNvPr id="73" name="Gerade Verbindung mit Pfeil 72">
                  <a:extLst>
                    <a:ext uri="{FF2B5EF4-FFF2-40B4-BE49-F238E27FC236}">
                      <a16:creationId xmlns:a16="http://schemas.microsoft.com/office/drawing/2014/main" id="{78369C19-B39B-38F4-803E-D6DBD0AE9879}"/>
                    </a:ext>
                  </a:extLst>
                </p:cNvPr>
                <p:cNvCxnSpPr/>
                <p:nvPr/>
              </p:nvCxnSpPr>
              <p:spPr>
                <a:xfrm flipV="1">
                  <a:off x="10827109" y="1610313"/>
                  <a:ext cx="379125" cy="289334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Gerade Verbindung mit Pfeil 73">
                  <a:extLst>
                    <a:ext uri="{FF2B5EF4-FFF2-40B4-BE49-F238E27FC236}">
                      <a16:creationId xmlns:a16="http://schemas.microsoft.com/office/drawing/2014/main" id="{189E471B-7B02-DC65-90EF-1F2F1ACBA7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27109" y="1899647"/>
                  <a:ext cx="379125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Gerade Verbindung mit Pfeil 74">
                  <a:extLst>
                    <a:ext uri="{FF2B5EF4-FFF2-40B4-BE49-F238E27FC236}">
                      <a16:creationId xmlns:a16="http://schemas.microsoft.com/office/drawing/2014/main" id="{83ADBF2E-6CBC-FDA0-BAAE-AC9E973C53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27109" y="1899647"/>
                  <a:ext cx="379125" cy="28253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Gruppieren 112">
                <a:extLst>
                  <a:ext uri="{FF2B5EF4-FFF2-40B4-BE49-F238E27FC236}">
                    <a16:creationId xmlns:a16="http://schemas.microsoft.com/office/drawing/2014/main" id="{DF7DC1DF-804A-57BD-6300-AD81E8DA451A}"/>
                  </a:ext>
                </a:extLst>
              </p:cNvPr>
              <p:cNvGrpSpPr/>
              <p:nvPr/>
            </p:nvGrpSpPr>
            <p:grpSpPr>
              <a:xfrm>
                <a:off x="10059434" y="2028922"/>
                <a:ext cx="462452" cy="3277723"/>
                <a:chOff x="10059434" y="1903173"/>
                <a:chExt cx="462452" cy="3529322"/>
              </a:xfrm>
            </p:grpSpPr>
            <p:cxnSp>
              <p:nvCxnSpPr>
                <p:cNvPr id="77" name="Gerade Verbindung mit Pfeil 76">
                  <a:extLst>
                    <a:ext uri="{FF2B5EF4-FFF2-40B4-BE49-F238E27FC236}">
                      <a16:creationId xmlns:a16="http://schemas.microsoft.com/office/drawing/2014/main" id="{9424CAA3-32B7-9A27-CD35-95B1A98142AE}"/>
                    </a:ext>
                  </a:extLst>
                </p:cNvPr>
                <p:cNvCxnSpPr>
                  <a:cxnSpLocks/>
                  <a:endCxn id="139" idx="3"/>
                </p:cNvCxnSpPr>
                <p:nvPr/>
              </p:nvCxnSpPr>
              <p:spPr>
                <a:xfrm flipV="1">
                  <a:off x="10059435" y="1903173"/>
                  <a:ext cx="462451" cy="1763952"/>
                </a:xfrm>
                <a:prstGeom prst="straightConnector1">
                  <a:avLst/>
                </a:prstGeom>
                <a:ln w="12700">
                  <a:gradFill>
                    <a:gsLst>
                      <a:gs pos="0">
                        <a:schemeClr val="accent2"/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Gerade Verbindung mit Pfeil 77">
                  <a:extLst>
                    <a:ext uri="{FF2B5EF4-FFF2-40B4-BE49-F238E27FC236}">
                      <a16:creationId xmlns:a16="http://schemas.microsoft.com/office/drawing/2014/main" id="{B48C65D8-58A3-5D1F-AA85-7675229BC3FA}"/>
                    </a:ext>
                  </a:extLst>
                </p:cNvPr>
                <p:cNvCxnSpPr>
                  <a:cxnSpLocks/>
                  <a:endCxn id="140" idx="3"/>
                </p:cNvCxnSpPr>
                <p:nvPr/>
              </p:nvCxnSpPr>
              <p:spPr>
                <a:xfrm flipV="1">
                  <a:off x="10059434" y="3169790"/>
                  <a:ext cx="460395" cy="497335"/>
                </a:xfrm>
                <a:prstGeom prst="straightConnector1">
                  <a:avLst/>
                </a:prstGeom>
                <a:ln w="12700">
                  <a:gradFill>
                    <a:gsLst>
                      <a:gs pos="0">
                        <a:schemeClr val="accent2"/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Gerade Verbindung mit Pfeil 78">
                  <a:extLst>
                    <a:ext uri="{FF2B5EF4-FFF2-40B4-BE49-F238E27FC236}">
                      <a16:creationId xmlns:a16="http://schemas.microsoft.com/office/drawing/2014/main" id="{6F0C197C-34C4-E1A1-2028-A7FA93069229}"/>
                    </a:ext>
                  </a:extLst>
                </p:cNvPr>
                <p:cNvCxnSpPr>
                  <a:cxnSpLocks/>
                  <a:endCxn id="142" idx="1"/>
                </p:cNvCxnSpPr>
                <p:nvPr/>
              </p:nvCxnSpPr>
              <p:spPr>
                <a:xfrm>
                  <a:off x="10059435" y="3667124"/>
                  <a:ext cx="460393" cy="498050"/>
                </a:xfrm>
                <a:prstGeom prst="straightConnector1">
                  <a:avLst/>
                </a:prstGeom>
                <a:ln w="12700">
                  <a:gradFill>
                    <a:gsLst>
                      <a:gs pos="0">
                        <a:schemeClr val="accent2"/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Gerade Verbindung mit Pfeil 92">
                  <a:extLst>
                    <a:ext uri="{FF2B5EF4-FFF2-40B4-BE49-F238E27FC236}">
                      <a16:creationId xmlns:a16="http://schemas.microsoft.com/office/drawing/2014/main" id="{76CED02F-A820-B938-507A-CC0CD5162F86}"/>
                    </a:ext>
                  </a:extLst>
                </p:cNvPr>
                <p:cNvCxnSpPr>
                  <a:cxnSpLocks/>
                  <a:endCxn id="143" idx="1"/>
                </p:cNvCxnSpPr>
                <p:nvPr/>
              </p:nvCxnSpPr>
              <p:spPr>
                <a:xfrm>
                  <a:off x="10059435" y="3667124"/>
                  <a:ext cx="460393" cy="1765371"/>
                </a:xfrm>
                <a:prstGeom prst="straightConnector1">
                  <a:avLst/>
                </a:prstGeom>
                <a:ln w="12700">
                  <a:gradFill>
                    <a:gsLst>
                      <a:gs pos="0">
                        <a:schemeClr val="accent2"/>
                      </a:gs>
                      <a:gs pos="100000">
                        <a:schemeClr val="bg1">
                          <a:lumMod val="50000"/>
                        </a:schemeClr>
                      </a:gs>
                    </a:gsLst>
                    <a:lin ang="5400000" scaled="1"/>
                  </a:gra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22" name="Gerade Verbindung mit Pfeil 121">
              <a:extLst>
                <a:ext uri="{FF2B5EF4-FFF2-40B4-BE49-F238E27FC236}">
                  <a16:creationId xmlns:a16="http://schemas.microsoft.com/office/drawing/2014/main" id="{806DF033-2A4E-EDE3-62DC-089A2BEF6EBC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 flipH="1">
              <a:off x="11458234" y="1610313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Gerade Verbindung mit Pfeil 125">
              <a:extLst>
                <a:ext uri="{FF2B5EF4-FFF2-40B4-BE49-F238E27FC236}">
                  <a16:creationId xmlns:a16="http://schemas.microsoft.com/office/drawing/2014/main" id="{477A8309-A2DA-14DF-DE59-F65FD9AC21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5399" y="1909187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mit Pfeil 126">
              <a:extLst>
                <a:ext uri="{FF2B5EF4-FFF2-40B4-BE49-F238E27FC236}">
                  <a16:creationId xmlns:a16="http://schemas.microsoft.com/office/drawing/2014/main" id="{03760400-7CF7-DEFC-515A-E589BB14A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5398" y="2182182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 Verbindung mit Pfeil 127">
              <a:extLst>
                <a:ext uri="{FF2B5EF4-FFF2-40B4-BE49-F238E27FC236}">
                  <a16:creationId xmlns:a16="http://schemas.microsoft.com/office/drawing/2014/main" id="{86B291CA-8C18-09F0-CD1E-D0CE2FBA92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8235" y="2779091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Gerade Verbindung mit Pfeil 128">
              <a:extLst>
                <a:ext uri="{FF2B5EF4-FFF2-40B4-BE49-F238E27FC236}">
                  <a16:creationId xmlns:a16="http://schemas.microsoft.com/office/drawing/2014/main" id="{F9B50481-E707-946D-E7FD-6A2D9FFEC1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5400" y="3077965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Gerade Verbindung mit Pfeil 129">
              <a:extLst>
                <a:ext uri="{FF2B5EF4-FFF2-40B4-BE49-F238E27FC236}">
                  <a16:creationId xmlns:a16="http://schemas.microsoft.com/office/drawing/2014/main" id="{C952746D-A584-ADF2-E06B-4B15B5947D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5399" y="3350960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Gerade Verbindung mit Pfeil 130">
              <a:extLst>
                <a:ext uri="{FF2B5EF4-FFF2-40B4-BE49-F238E27FC236}">
                  <a16:creationId xmlns:a16="http://schemas.microsoft.com/office/drawing/2014/main" id="{665E4C54-C89D-195B-4B6B-0330E1DC00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8232" y="3954719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Gerade Verbindung mit Pfeil 131">
              <a:extLst>
                <a:ext uri="{FF2B5EF4-FFF2-40B4-BE49-F238E27FC236}">
                  <a16:creationId xmlns:a16="http://schemas.microsoft.com/office/drawing/2014/main" id="{F16EE6FF-12E0-7680-7BA8-AD40B8AE91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5397" y="4253593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Gerade Verbindung mit Pfeil 132">
              <a:extLst>
                <a:ext uri="{FF2B5EF4-FFF2-40B4-BE49-F238E27FC236}">
                  <a16:creationId xmlns:a16="http://schemas.microsoft.com/office/drawing/2014/main" id="{80DF3271-6163-7AB8-B261-3D66EAF904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5396" y="4526588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 Verbindung mit Pfeil 133">
              <a:extLst>
                <a:ext uri="{FF2B5EF4-FFF2-40B4-BE49-F238E27FC236}">
                  <a16:creationId xmlns:a16="http://schemas.microsoft.com/office/drawing/2014/main" id="{2994118E-81FF-C92A-99F8-80FC0DC095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8235" y="5141633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Gerade Verbindung mit Pfeil 134">
              <a:extLst>
                <a:ext uri="{FF2B5EF4-FFF2-40B4-BE49-F238E27FC236}">
                  <a16:creationId xmlns:a16="http://schemas.microsoft.com/office/drawing/2014/main" id="{2515C70C-129D-9544-ED84-7EC5597B12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5400" y="5440507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956E9F86-8213-E403-5EBF-DBAC4AEFED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55399" y="5713502"/>
              <a:ext cx="167709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Rechteck 137">
            <a:extLst>
              <a:ext uri="{FF2B5EF4-FFF2-40B4-BE49-F238E27FC236}">
                <a16:creationId xmlns:a16="http://schemas.microsoft.com/office/drawing/2014/main" id="{98CAA837-4DB1-9409-2240-75426F4615A3}"/>
              </a:ext>
            </a:extLst>
          </p:cNvPr>
          <p:cNvSpPr>
            <a:spLocks noChangeAspect="1"/>
          </p:cNvSpPr>
          <p:nvPr/>
        </p:nvSpPr>
        <p:spPr>
          <a:xfrm>
            <a:off x="9483435" y="3379124"/>
            <a:ext cx="576000" cy="57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1">
                <a:solidFill>
                  <a:schemeClr val="accent2"/>
                </a:solidFill>
              </a:rPr>
              <a:t>lP3a</a:t>
            </a: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A1518DED-7199-61E5-621F-25674B23C48E}"/>
              </a:ext>
            </a:extLst>
          </p:cNvPr>
          <p:cNvSpPr>
            <a:spLocks/>
          </p:cNvSpPr>
          <p:nvPr/>
        </p:nvSpPr>
        <p:spPr>
          <a:xfrm>
            <a:off x="10469165" y="1721643"/>
            <a:ext cx="360000" cy="36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solidFill>
                <a:schemeClr val="accent2"/>
              </a:solidFill>
            </a:endParaRPr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CC59F893-8540-3066-C687-044988A9C862}"/>
              </a:ext>
            </a:extLst>
          </p:cNvPr>
          <p:cNvSpPr>
            <a:spLocks/>
          </p:cNvSpPr>
          <p:nvPr/>
        </p:nvSpPr>
        <p:spPr>
          <a:xfrm>
            <a:off x="10467108" y="2897965"/>
            <a:ext cx="360000" cy="36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solidFill>
                <a:schemeClr val="accent2"/>
              </a:solidFill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8A97DAE5-E676-A520-05AE-A499E663DEB5}"/>
              </a:ext>
            </a:extLst>
          </p:cNvPr>
          <p:cNvSpPr>
            <a:spLocks/>
          </p:cNvSpPr>
          <p:nvPr/>
        </p:nvSpPr>
        <p:spPr>
          <a:xfrm>
            <a:off x="10467108" y="4077702"/>
            <a:ext cx="360000" cy="36000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solidFill>
                <a:schemeClr val="accent2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ED33678D-380F-ED1C-6195-80A22AFA6956}"/>
              </a:ext>
            </a:extLst>
          </p:cNvPr>
          <p:cNvSpPr>
            <a:spLocks/>
          </p:cNvSpPr>
          <p:nvPr/>
        </p:nvSpPr>
        <p:spPr>
          <a:xfrm>
            <a:off x="10467107" y="4076948"/>
            <a:ext cx="360000" cy="36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solidFill>
                <a:schemeClr val="accent2"/>
              </a:solidFill>
            </a:endParaRPr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DFCED091-DA40-96CB-19D9-0A749E3708B9}"/>
              </a:ext>
            </a:extLst>
          </p:cNvPr>
          <p:cNvSpPr>
            <a:spLocks/>
          </p:cNvSpPr>
          <p:nvPr/>
        </p:nvSpPr>
        <p:spPr>
          <a:xfrm>
            <a:off x="10467107" y="5253924"/>
            <a:ext cx="360000" cy="36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solidFill>
                <a:schemeClr val="accent2"/>
              </a:solidFill>
            </a:endParaRPr>
          </a:p>
        </p:txBody>
      </p:sp>
      <p:sp>
        <p:nvSpPr>
          <p:cNvPr id="148" name="Rechteck 147">
            <a:extLst>
              <a:ext uri="{FF2B5EF4-FFF2-40B4-BE49-F238E27FC236}">
                <a16:creationId xmlns:a16="http://schemas.microsoft.com/office/drawing/2014/main" id="{CCCE59E2-613B-BD9C-D084-BE71400C7455}"/>
              </a:ext>
            </a:extLst>
          </p:cNvPr>
          <p:cNvSpPr>
            <a:spLocks noChangeAspect="1"/>
          </p:cNvSpPr>
          <p:nvPr/>
        </p:nvSpPr>
        <p:spPr>
          <a:xfrm>
            <a:off x="7682344" y="3390949"/>
            <a:ext cx="576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noProof="1">
                <a:solidFill>
                  <a:schemeClr val="accent2"/>
                </a:solidFill>
              </a:rPr>
              <a:t>NFC</a:t>
            </a: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28C19D94-86B5-FE55-044C-D103890E30A1}"/>
              </a:ext>
            </a:extLst>
          </p:cNvPr>
          <p:cNvSpPr>
            <a:spLocks/>
          </p:cNvSpPr>
          <p:nvPr/>
        </p:nvSpPr>
        <p:spPr>
          <a:xfrm>
            <a:off x="9481378" y="3396413"/>
            <a:ext cx="575999" cy="57053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>
              <a:solidFill>
                <a:schemeClr val="accent2"/>
              </a:solidFill>
            </a:endParaRP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5FA67A44-EAEE-175B-BAD0-2A96312F4D39}"/>
              </a:ext>
            </a:extLst>
          </p:cNvPr>
          <p:cNvSpPr txBox="1"/>
          <p:nvPr/>
        </p:nvSpPr>
        <p:spPr>
          <a:xfrm>
            <a:off x="8733497" y="3585646"/>
            <a:ext cx="292315" cy="184666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 rtlCol="0">
            <a:spAutoFit/>
          </a:bodyPr>
          <a:lstStyle/>
          <a:p>
            <a:r>
              <a:rPr lang="en-US" sz="1200" b="1" noProof="1">
                <a:solidFill>
                  <a:schemeClr val="accent2"/>
                </a:solidFill>
              </a:rPr>
              <a:t>.35</a:t>
            </a:r>
            <a:endParaRPr lang="en-US" b="1" noProof="1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4379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AB553-0C83-1307-3F37-0BD056DE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7B94A1F6-D073-8B10-BF40-9D4937FC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noProof="1"/>
              <a:t>Weak associations between personality and neurocognitive measures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Conceptual issues: </a:t>
            </a:r>
            <a:r>
              <a:rPr lang="en-US" b="0" noProof="1">
                <a:ea typeface="Open Sans" panose="020B0606030504020204" pitchFamily="34" charset="0"/>
                <a:cs typeface="Open Sans" panose="020B0606030504020204" pitchFamily="34" charset="0"/>
              </a:rPr>
              <a:t>Strong vs. weak situations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09A6CD89-4481-65E2-C5D5-C154DE14A16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6179232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Strong vs. weak situations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cf. Mischel: strong situations minimize, weak situations maximize individual differences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Situational affordance is an issue in cognitive studies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experimental paradigms often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designed 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to minimize the influence of individual differences in order to maximize situational influence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individuals with different trait levels tend to behave similar due to situation strength, resulting in weak associations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060D8F26-AB79-1F1F-6E49-3024799E58C6}"/>
              </a:ext>
            </a:extLst>
          </p:cNvPr>
          <p:cNvSpPr/>
          <p:nvPr/>
        </p:nvSpPr>
        <p:spPr>
          <a:xfrm>
            <a:off x="0" y="6125671"/>
            <a:ext cx="12192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Strobel, A., … Kührt, C. (2020).  </a:t>
            </a:r>
            <a:r>
              <a:rPr lang="en-US" sz="1600" i="1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PLoS ONE, 15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(10),  e0239817. </a:t>
            </a:r>
            <a:b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</a:b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  <a:hlinkClick r:id="rId3"/>
              </a:rPr>
              <a:t>https://doi.org/10.1371/journal.pone.0239817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670F8A5-8A04-74B6-F638-9933F880E83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93704" y="1545377"/>
            <a:ext cx="4524790" cy="2366606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2C5F632-5ED4-7DE2-4A30-597FEE7C1CDE}"/>
              </a:ext>
            </a:extLst>
          </p:cNvPr>
          <p:cNvSpPr/>
          <p:nvPr/>
        </p:nvSpPr>
        <p:spPr>
          <a:xfrm>
            <a:off x="7688130" y="2066257"/>
            <a:ext cx="306519" cy="30864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noProof="1">
                <a:solidFill>
                  <a:schemeClr val="bg1"/>
                </a:solidFill>
              </a:rPr>
              <a:t>CEI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04CB7C-E55E-ADD7-D59A-5246886DC23E}"/>
              </a:ext>
            </a:extLst>
          </p:cNvPr>
          <p:cNvSpPr/>
          <p:nvPr/>
        </p:nvSpPr>
        <p:spPr>
          <a:xfrm>
            <a:off x="10691680" y="2066257"/>
            <a:ext cx="306519" cy="30864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noProof="1">
                <a:solidFill>
                  <a:schemeClr val="bg1"/>
                </a:solidFill>
              </a:rPr>
              <a:t>DA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FC39F4-5104-F93C-DBAE-F25BA354BE39}"/>
              </a:ext>
            </a:extLst>
          </p:cNvPr>
          <p:cNvSpPr/>
          <p:nvPr/>
        </p:nvSpPr>
        <p:spPr>
          <a:xfrm>
            <a:off x="9189905" y="2066257"/>
            <a:ext cx="306519" cy="308644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noProof="1">
                <a:solidFill>
                  <a:schemeClr val="bg1"/>
                </a:solidFill>
              </a:rPr>
              <a:t>CF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3F999372-29F1-B891-E981-00F419FD09F8}"/>
              </a:ext>
            </a:extLst>
          </p:cNvPr>
          <p:cNvSpPr txBox="1"/>
          <p:nvPr/>
        </p:nvSpPr>
        <p:spPr>
          <a:xfrm>
            <a:off x="8454256" y="2082079"/>
            <a:ext cx="290712" cy="276999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r>
              <a:rPr lang="en-US" sz="1200" noProof="1">
                <a:solidFill>
                  <a:schemeClr val="accent2"/>
                </a:solidFill>
              </a:rPr>
              <a:t>.03</a:t>
            </a:r>
            <a:endParaRPr lang="en-US" noProof="1">
              <a:solidFill>
                <a:schemeClr val="accent2"/>
              </a:solidFill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C684D249-B362-2617-A60F-B74FBC08B2BC}"/>
              </a:ext>
            </a:extLst>
          </p:cNvPr>
          <p:cNvSpPr txBox="1"/>
          <p:nvPr/>
        </p:nvSpPr>
        <p:spPr>
          <a:xfrm>
            <a:off x="9937865" y="2080105"/>
            <a:ext cx="425364" cy="276999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r>
              <a:rPr lang="en-US" sz="1200" noProof="1">
                <a:solidFill>
                  <a:schemeClr val="accent2"/>
                </a:solidFill>
              </a:rPr>
              <a:t>-.17*</a:t>
            </a:r>
            <a:endParaRPr lang="en-US" noProof="1">
              <a:solidFill>
                <a:schemeClr val="accent2"/>
              </a:solidFill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F351F7E-AC0D-CC3B-832C-2276A583E4B9}"/>
              </a:ext>
            </a:extLst>
          </p:cNvPr>
          <p:cNvSpPr txBox="1"/>
          <p:nvPr/>
        </p:nvSpPr>
        <p:spPr>
          <a:xfrm>
            <a:off x="9173835" y="1456991"/>
            <a:ext cx="340405" cy="276999"/>
          </a:xfrm>
          <a:prstGeom prst="rect">
            <a:avLst/>
          </a:prstGeom>
          <a:solidFill>
            <a:schemeClr val="bg1"/>
          </a:solidFill>
        </p:spPr>
        <p:txBody>
          <a:bodyPr wrap="none" lIns="36000" rIns="36000" rtlCol="0">
            <a:spAutoFit/>
          </a:bodyPr>
          <a:lstStyle/>
          <a:p>
            <a:r>
              <a:rPr lang="en-US" sz="1200" noProof="1">
                <a:solidFill>
                  <a:schemeClr val="accent2"/>
                </a:solidFill>
              </a:rPr>
              <a:t>-.06</a:t>
            </a:r>
            <a:endParaRPr lang="en-US" noProof="1">
              <a:solidFill>
                <a:schemeClr val="accent2"/>
              </a:solidFill>
            </a:endParaRP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EF484685-CA42-74C2-FEDD-B43DA8D87CC4}"/>
              </a:ext>
            </a:extLst>
          </p:cNvPr>
          <p:cNvSpPr txBox="1"/>
          <p:nvPr/>
        </p:nvSpPr>
        <p:spPr>
          <a:xfrm>
            <a:off x="7156450" y="4127530"/>
            <a:ext cx="42989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1">
                <a:solidFill>
                  <a:schemeClr val="accent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Strobel et al. (2020): </a:t>
            </a:r>
            <a:r>
              <a:rPr lang="en-US" sz="16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 a sample of </a:t>
            </a:r>
            <a:r>
              <a:rPr lang="en-US" sz="1600" i="1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 = </a:t>
            </a:r>
            <a:r>
              <a:rPr lang="en-US" sz="16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217 university students, trait </a:t>
            </a:r>
            <a:r>
              <a:rPr lang="en-US" sz="1600" i="1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Cognitive Effort Investment</a:t>
            </a:r>
            <a:r>
              <a:rPr lang="en-US" sz="16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, CEI, was not related to </a:t>
            </a:r>
            <a:r>
              <a:rPr lang="en-US" sz="1600" i="1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Demand Avoidance</a:t>
            </a:r>
            <a:r>
              <a:rPr lang="en-US" sz="16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, DA (controlled for cognitive functioning, CF)  likely because the task was optimized to demonstrate that DA is a general phenomenon</a:t>
            </a:r>
            <a:endParaRPr lang="en-US" sz="1600" noProof="1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7322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7EBF2-7698-8D22-1FC3-75138746B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4DA0922-21B1-B688-00E7-FC19016A0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noProof="1"/>
              <a:t>Weak associations between personality and neurocognitive measures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Conceptual issues: </a:t>
            </a:r>
            <a:r>
              <a:rPr lang="en-US" b="0" noProof="1">
                <a:ea typeface="Open Sans" panose="020B0606030504020204" pitchFamily="34" charset="0"/>
                <a:cs typeface="Open Sans" panose="020B0606030504020204" pitchFamily="34" charset="0"/>
              </a:rPr>
              <a:t>Strong vs. weak situations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B8BA7B9E-2483-7A10-A0D6-359189E3894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6179232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Strong vs. weak situations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cf. Mischel: strong situations minimize, weak situations maximize individual differences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Situational affordance is an issue in cognitive studies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experimental paradigms often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designed 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to minimize the influence of individual differences in order to maximize situational influence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individuals with different trait levels tend to behave similar due to situation strength, resulting in weak associations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if situation strength is reduced like in the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-back task and individuals are asked for subjective values of different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-back levels, the expected nonlinear person × situation interaction  associations shows up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tasks like the Novelty Oddball or measurements under resting conditions also create rather weak situations</a:t>
            </a:r>
          </a:p>
          <a:p>
            <a:pPr marL="266700" lvl="1" indent="-266700">
              <a:spcBef>
                <a:spcPts val="600"/>
              </a:spcBef>
            </a:pPr>
            <a:endParaRPr lang="en-US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47CB75F-0A86-7942-B1CE-C01F1F196637}"/>
              </a:ext>
            </a:extLst>
          </p:cNvPr>
          <p:cNvSpPr/>
          <p:nvPr/>
        </p:nvSpPr>
        <p:spPr>
          <a:xfrm>
            <a:off x="0" y="6125671"/>
            <a:ext cx="12192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Zerna, J., Scheffel, C. et al. (2023).  </a:t>
            </a:r>
            <a:r>
              <a:rPr lang="en-US" sz="1600" i="1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SciRep, 13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, 19501.</a:t>
            </a:r>
            <a:b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</a:b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  <a:hlinkClick r:id="rId3"/>
              </a:rPr>
              <a:t>https://doi.org/10.1038/s41598-023-44349-3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 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2720924-97D4-5679-1844-2D949186651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065939" y="1484313"/>
            <a:ext cx="4389461" cy="3164247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F7717C0-334C-428A-CB72-6591439B29A2}"/>
              </a:ext>
            </a:extLst>
          </p:cNvPr>
          <p:cNvSpPr txBox="1"/>
          <p:nvPr/>
        </p:nvSpPr>
        <p:spPr>
          <a:xfrm>
            <a:off x="7156449" y="4705778"/>
            <a:ext cx="4298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noProof="1">
                <a:solidFill>
                  <a:schemeClr val="accent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Zerna, Scheffel et al. (2023): </a:t>
            </a:r>
            <a:r>
              <a:rPr lang="en-US" sz="16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in a sample of </a:t>
            </a:r>
            <a:r>
              <a:rPr lang="en-US" sz="1600" i="1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 = </a:t>
            </a:r>
            <a:r>
              <a:rPr lang="en-US" sz="16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116 university students, high NFC individuals showed the expected pattern of subjective values over </a:t>
            </a:r>
            <a:r>
              <a:rPr lang="en-US" sz="1600" i="1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r>
              <a:rPr lang="en-US" sz="1600" noProof="1">
                <a:solidFill>
                  <a:schemeClr val="accent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-back levels  </a:t>
            </a:r>
            <a:endParaRPr lang="en-US" sz="1600" noProof="1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6061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76BDC-F004-A776-CE26-7BBBA85D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29763CF-C4C5-C58E-3CD9-64AFECAA2A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029531" y="1513756"/>
            <a:ext cx="3383429" cy="4025113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DF6F2ABE-3BD1-EB00-DF3D-112D6829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noProof="1"/>
              <a:t>Weak associations between personality and neurocognitive measures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Conceptual issues: </a:t>
            </a:r>
            <a:r>
              <a:rPr lang="en-US" b="0" noProof="1">
                <a:ea typeface="Open Sans" panose="020B0606030504020204" pitchFamily="34" charset="0"/>
                <a:cs typeface="Open Sans" panose="020B0606030504020204" pitchFamily="34" charset="0"/>
              </a:rPr>
              <a:t>Strong vs. weak situations</a:t>
            </a:r>
            <a:b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CDE70C53-2E23-1557-9803-8775C21DE5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6181182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Strong vs. weak situations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cf. Mischel: strong situations minimize, weak situations maximize individual differences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Situational affordance is an issue in cognitive studies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experimental paradigms often </a:t>
            </a:r>
            <a:r>
              <a:rPr lang="en-US" i="1" noProof="1">
                <a:ea typeface="Open Sans" panose="020B0606030504020204" pitchFamily="34" charset="0"/>
                <a:cs typeface="Open Sans" panose="020B0606030504020204" pitchFamily="34" charset="0"/>
              </a:rPr>
              <a:t>designed </a:t>
            </a: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to minimize the influence of individual differences in order to maximize situational influence</a:t>
            </a:r>
          </a:p>
          <a:p>
            <a:pPr marL="266700" lvl="1" indent="-266700">
              <a:spcBef>
                <a:spcPts val="600"/>
              </a:spcBef>
            </a:pPr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individuals with different trait levels tend to behave similar due to situation strength, resulting in weak associations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Consequences</a:t>
            </a:r>
          </a:p>
          <a:p>
            <a:pPr marL="269875" lvl="1" indent="-269875"/>
            <a:r>
              <a:rPr lang="en-US" noProof="1">
                <a:ea typeface="Open Sans" panose="020B0606030504020204" pitchFamily="34" charset="0"/>
                <a:cs typeface="Open Sans" panose="020B0606030504020204" pitchFamily="34" charset="0"/>
              </a:rPr>
              <a:t>establish experimental or ecological situations with medium situation strength so that individuals can behave in line with their dispositions</a:t>
            </a:r>
            <a:endParaRPr lang="en-US" b="1" noProof="1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1" indent="0">
              <a:spcBef>
                <a:spcPts val="1200"/>
              </a:spcBef>
              <a:buNone/>
            </a:pPr>
            <a:endParaRPr lang="en-US" b="1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B1CDB1B7-6C6B-5DE9-66F7-CB1DE192B260}"/>
              </a:ext>
            </a:extLst>
          </p:cNvPr>
          <p:cNvSpPr/>
          <p:nvPr/>
        </p:nvSpPr>
        <p:spPr>
          <a:xfrm>
            <a:off x="0" y="6125671"/>
            <a:ext cx="12192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Fig. adapted from Strobel, A., … Kührt, C. (2020).  </a:t>
            </a:r>
            <a:r>
              <a:rPr lang="en-US" sz="1600" i="1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PLoS ONE, 15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(10),  e0239817. </a:t>
            </a:r>
            <a:b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</a:b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  <a:hlinkClick r:id="rId4"/>
              </a:rPr>
              <a:t>https://doi.org/10.1371/journal.pone.0239817</a:t>
            </a:r>
            <a:r>
              <a:rPr lang="en-US" sz="1600" noProof="1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E108260-DE9E-322C-FD90-1179E8BDD408}"/>
              </a:ext>
            </a:extLst>
          </p:cNvPr>
          <p:cNvSpPr/>
          <p:nvPr/>
        </p:nvSpPr>
        <p:spPr>
          <a:xfrm>
            <a:off x="9771796" y="2497540"/>
            <a:ext cx="641445" cy="1910687"/>
          </a:xfrm>
          <a:prstGeom prst="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1">
              <a:solidFill>
                <a:schemeClr val="accent2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1260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61297-BF1E-40BB-FA3D-2F051AEDA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64676AB-6C91-69E0-7E70-F3C7429B1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Weak associations between personality and neurocognitive measures</a:t>
            </a:r>
            <a:b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Integration: </a:t>
            </a:r>
            <a:r>
              <a:rPr lang="en-US" b="0" dirty="0">
                <a:ea typeface="Open Sans" panose="020B0606030504020204" pitchFamily="34" charset="0"/>
                <a:cs typeface="Open Sans" panose="020B0606030504020204" pitchFamily="34" charset="0"/>
              </a:rPr>
              <a:t>Summary and suggestions</a:t>
            </a:r>
            <a:b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b="0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Inhaltsplatzhalter 1">
            <a:extLst>
              <a:ext uri="{FF2B5EF4-FFF2-40B4-BE49-F238E27FC236}">
                <a16:creationId xmlns:a16="http://schemas.microsoft.com/office/drawing/2014/main" id="{932997CA-97D7-2EF6-17A9-1B6791CF20F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6" cy="4344987"/>
          </a:xfrm>
        </p:spPr>
        <p:txBody>
          <a:bodyPr/>
          <a:lstStyle/>
          <a:p>
            <a:pPr marL="0" lvl="1" indent="0">
              <a:spcBef>
                <a:spcPts val="600"/>
              </a:spcBef>
              <a:buNone/>
            </a:pP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Problem</a:t>
            </a:r>
          </a:p>
          <a:p>
            <a:pPr marL="0" lvl="1" indent="0">
              <a:spcBef>
                <a:spcPts val="600"/>
              </a:spcBef>
              <a:buNone/>
            </a:pP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in individual differences research, </a:t>
            </a:r>
            <a:r>
              <a:rPr lang="en-US" sz="1800" i="1" noProof="1">
                <a:ea typeface="Open Sans" panose="020B0606030504020204" pitchFamily="34" charset="0"/>
                <a:cs typeface="Open Sans" panose="020B0606030504020204" pitchFamily="34" charset="0"/>
              </a:rPr>
              <a:t>medium</a:t>
            </a: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 associations can be assumed at best, but they may appear </a:t>
            </a:r>
            <a:r>
              <a:rPr lang="en-US" sz="1800" i="1" noProof="1">
                <a:ea typeface="Open Sans" panose="020B0606030504020204" pitchFamily="34" charset="0"/>
                <a:cs typeface="Open Sans" panose="020B0606030504020204" pitchFamily="34" charset="0"/>
              </a:rPr>
              <a:t>weak </a:t>
            </a: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because of …</a:t>
            </a:r>
            <a:r>
              <a:rPr lang="en-US" sz="1800" b="1" noProof="1"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Unreliability of the measures used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carefully select measures and/or measurement models to avoid and/or correct for attenuation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Variance restriction of the samples examined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carefully select samples and/or know true variances of your measures to correct for restriction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Generality asymmetry of the measures employed</a:t>
            </a:r>
          </a:p>
          <a:p>
            <a:pPr marL="268288" lvl="1" indent="-268288">
              <a:spcBef>
                <a:spcPts val="600"/>
              </a:spcBef>
            </a:pPr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make sure that X and Y are of the same generality level (aggregation/SEM, also captures error)</a:t>
            </a:r>
            <a:endParaRPr lang="en-US" sz="1800" b="1" noProof="1"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1" indent="0">
              <a:spcBef>
                <a:spcPts val="1200"/>
              </a:spcBef>
              <a:buNone/>
            </a:pPr>
            <a:r>
              <a:rPr lang="en-US" sz="1800" b="1" noProof="1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Strong vs. weak measurement situations </a:t>
            </a:r>
          </a:p>
          <a:p>
            <a:pPr marL="269875" lvl="1" indent="-269875"/>
            <a:r>
              <a:rPr lang="en-US" sz="1800" noProof="1">
                <a:ea typeface="Open Sans" panose="020B0606030504020204" pitchFamily="34" charset="0"/>
                <a:cs typeface="Open Sans" panose="020B0606030504020204" pitchFamily="34" charset="0"/>
              </a:rPr>
              <a:t>establish experimental or ecological situations with medium situation strength so that individuals can behave in line with their dispositions</a:t>
            </a:r>
            <a:endParaRPr lang="en-US" sz="1800" b="1" noProof="1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7154194-F681-0E40-F296-F70F09AF64D3}"/>
              </a:ext>
            </a:extLst>
          </p:cNvPr>
          <p:cNvSpPr/>
          <p:nvPr/>
        </p:nvSpPr>
        <p:spPr>
          <a:xfrm>
            <a:off x="0" y="6125671"/>
            <a:ext cx="12192000" cy="7485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1pPr>
            <a:lvl2pPr marL="742950" indent="-28575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2pPr>
            <a:lvl3pPr marL="11430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3pPr>
            <a:lvl4pPr marL="16002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4pPr>
            <a:lvl5pPr marL="2057400" indent="-228600" eaLnBrk="0" hangingPunct="0"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1D4B"/>
                </a:solidFill>
                <a:latin typeface="Univers 45 Light" charset="0"/>
                <a:ea typeface="ＭＳ Ｐゴシック" charset="-128"/>
              </a:defRPr>
            </a:lvl9pPr>
          </a:lstStyle>
          <a:p>
            <a:pPr algn="ctr" eaLnBrk="1" hangingPunct="1">
              <a:spcAft>
                <a:spcPts val="1200"/>
              </a:spcAft>
              <a:defRPr/>
            </a:pPr>
            <a:r>
              <a:rPr lang="en-US" sz="1600" b="1" dirty="0">
                <a:solidFill>
                  <a:srgbClr val="C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Suggested reading: DeYoung, C. G., Hilger, K., et al. (2025). </a:t>
            </a:r>
            <a:r>
              <a:rPr lang="en-US" sz="1600" b="1" i="1" dirty="0">
                <a:solidFill>
                  <a:srgbClr val="C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J </a:t>
            </a:r>
            <a:r>
              <a:rPr lang="en-US" sz="1600" b="1" i="1" dirty="0" err="1">
                <a:solidFill>
                  <a:srgbClr val="C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Cogn</a:t>
            </a:r>
            <a:r>
              <a:rPr lang="en-US" sz="1600" b="1" i="1" dirty="0">
                <a:solidFill>
                  <a:srgbClr val="C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US" sz="1600" b="1" i="1" dirty="0" err="1">
                <a:solidFill>
                  <a:srgbClr val="C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Neurosci</a:t>
            </a:r>
            <a:r>
              <a:rPr lang="en-US" sz="1600" b="1" i="1" dirty="0">
                <a:solidFill>
                  <a:srgbClr val="C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, 37</a:t>
            </a:r>
            <a:r>
              <a:rPr lang="en-US" sz="1600" b="1" dirty="0">
                <a:solidFill>
                  <a:srgbClr val="C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(6), 1023-1034.</a:t>
            </a:r>
            <a:br>
              <a:rPr lang="en-US" sz="1600" b="1" dirty="0">
                <a:solidFill>
                  <a:srgbClr val="C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</a:b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  <a:hlinkClick r:id="rId3"/>
              </a:rPr>
              <a:t>https://doi.org/10.1162/jocn_a_02297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Open Sans Normal" charset="0"/>
                <a:ea typeface="Open Sans Normal" charset="0"/>
                <a:cs typeface="Open Sans Normal" charset="0"/>
              </a:rPr>
              <a:t>  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206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5">
              <a:spcBef>
                <a:spcPts val="1200"/>
              </a:spcBef>
            </a:pPr>
            <a:r>
              <a:rPr lang="de-DE" sz="3600" b="1" dirty="0" err="1">
                <a:solidFill>
                  <a:schemeClr val="bg1"/>
                </a:solidFill>
                <a:latin typeface="+mj-lt"/>
              </a:rPr>
              <a:t>Thank</a:t>
            </a:r>
            <a:r>
              <a:rPr lang="de-DE" sz="3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de-DE" sz="3600" b="1" dirty="0" err="1">
                <a:solidFill>
                  <a:schemeClr val="bg1"/>
                </a:solidFill>
                <a:latin typeface="+mj-lt"/>
              </a:rPr>
              <a:t>you</a:t>
            </a:r>
            <a:r>
              <a:rPr lang="de-DE" sz="3600" b="1" dirty="0">
                <a:solidFill>
                  <a:schemeClr val="bg1"/>
                </a:solidFill>
                <a:latin typeface="+mj-lt"/>
              </a:rPr>
              <a:t>!</a:t>
            </a:r>
            <a:br>
              <a:rPr lang="de-DE" sz="3600" b="1" dirty="0">
                <a:solidFill>
                  <a:schemeClr val="bg1"/>
                </a:solidFill>
                <a:latin typeface="+mj-lt"/>
              </a:rPr>
            </a:br>
            <a:br>
              <a:rPr lang="de-DE" sz="2400" dirty="0">
                <a:solidFill>
                  <a:schemeClr val="bg1"/>
                </a:solidFill>
                <a:latin typeface="+mj-lt"/>
              </a:rPr>
            </a:br>
            <a:endParaRPr lang="de-DE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63E4C07-7407-BE07-6052-12DB4B93F544}"/>
              </a:ext>
            </a:extLst>
          </p:cNvPr>
          <p:cNvSpPr txBox="1"/>
          <p:nvPr/>
        </p:nvSpPr>
        <p:spPr>
          <a:xfrm>
            <a:off x="791193" y="3985585"/>
            <a:ext cx="61005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Details?</a:t>
            </a:r>
            <a:br>
              <a:rPr lang="de-DE" sz="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de-DE" sz="2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https://github.com/alex-strobel/PuG-2026-Talk</a:t>
            </a:r>
            <a:endParaRPr lang="de-DE" sz="3200" b="1" dirty="0">
              <a:solidFill>
                <a:schemeClr val="bg1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1200"/>
              </a:spcBef>
            </a:pPr>
            <a:r>
              <a:rPr lang="de-DE" sz="20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Questions? </a:t>
            </a:r>
            <a:br>
              <a:rPr lang="de-DE" sz="2000" dirty="0">
                <a:solidFill>
                  <a:schemeClr val="bg1"/>
                </a:solidFill>
                <a:latin typeface="+mj-lt"/>
              </a:rPr>
            </a:br>
            <a:r>
              <a:rPr lang="de-DE" sz="2000" dirty="0">
                <a:solidFill>
                  <a:schemeClr val="bg1"/>
                </a:solidFill>
                <a:latin typeface="+mj-lt"/>
                <a:hlinkClick r:id="rId4"/>
              </a:rPr>
              <a:t>alexander.strobel@tu-dresden.de</a:t>
            </a:r>
            <a:endParaRPr lang="de-DE" sz="18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496F0AB-BFD2-280C-5F4E-779C93C1861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745" y="3387259"/>
            <a:ext cx="2075654" cy="20756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072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7"/>
</p:tagLst>
</file>

<file path=ppt/theme/theme1.xml><?xml version="1.0" encoding="utf-8"?>
<a:theme xmlns:a="http://schemas.openxmlformats.org/drawingml/2006/main" name="TUD_2018_16zu9">
  <a:themeElements>
    <a:clrScheme name="TUD_Farben">
      <a:dk1>
        <a:srgbClr val="00305E"/>
      </a:dk1>
      <a:lt1>
        <a:srgbClr val="FFFFFF"/>
      </a:lt1>
      <a:dk2>
        <a:srgbClr val="00305E"/>
      </a:dk2>
      <a:lt2>
        <a:srgbClr val="727879"/>
      </a:lt2>
      <a:accent1>
        <a:srgbClr val="009EE0"/>
      </a:accent1>
      <a:accent2>
        <a:srgbClr val="006AB3"/>
      </a:accent2>
      <a:accent3>
        <a:srgbClr val="6AB023"/>
      </a:accent3>
      <a:accent4>
        <a:srgbClr val="007D40"/>
      </a:accent4>
      <a:accent5>
        <a:srgbClr val="93107E"/>
      </a:accent5>
      <a:accent6>
        <a:srgbClr val="54378A"/>
      </a:accent6>
      <a:hlink>
        <a:srgbClr val="009EE0"/>
      </a:hlink>
      <a:folHlink>
        <a:srgbClr val="006AB3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</a:ln>
      </a:spPr>
      <a:bodyPr rtlCol="0" anchor="ctr"/>
      <a:lstStyle>
        <a:defPPr algn="ctr">
          <a:defRPr sz="1600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18_Präsentationsvorlage_TUD_16zu9.potx" id="{31D16C43-CE8A-487C-877F-1CE738588514}" vid="{D0A951CF-2A2A-4137-AC09-300C595B1D60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2018_Praesentationsvorlage_TUD_16zu9</Template>
  <TotalTime>0</TotalTime>
  <Words>1937</Words>
  <Application>Microsoft Macintosh PowerPoint</Application>
  <PresentationFormat>Breitbild</PresentationFormat>
  <Paragraphs>191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0" baseType="lpstr">
      <vt:lpstr>Arial</vt:lpstr>
      <vt:lpstr>Calibri</vt:lpstr>
      <vt:lpstr>Open Sans</vt:lpstr>
      <vt:lpstr>Open Sans Normal</vt:lpstr>
      <vt:lpstr>Open Sans SemiBold</vt:lpstr>
      <vt:lpstr>Symbol</vt:lpstr>
      <vt:lpstr>TUD_2018_16zu9</vt:lpstr>
      <vt:lpstr>PuG Symposium Heidelberg 2026 Neuroscientific Perspectives on Personality  </vt:lpstr>
      <vt:lpstr>Weak associations between personality and neurocognitive measures Outline </vt:lpstr>
      <vt:lpstr>Weak associations between personality and neurocognitive measures Introduction: Problem outline </vt:lpstr>
      <vt:lpstr>Weak associations between personality and neurocognitive measures Technical issues: Reliability </vt:lpstr>
      <vt:lpstr>Weak associations between personality and neurocognitive measures Technical issues: Range restriction </vt:lpstr>
      <vt:lpstr>Weak associations between personality and neurocognitive measures Conceptual issues: Brunswik asymmetry </vt:lpstr>
      <vt:lpstr>Weak associations between personality and neurocognitive measures Conceptual issues: Brunswik asymmetry </vt:lpstr>
      <vt:lpstr>Weak associations between personality and neurocognitive measures Conceptual issues: Brunswik asymmetry </vt:lpstr>
      <vt:lpstr>Weak associations between personality and neurocognitive measures Conceptual issues: Strong vs. weak situations </vt:lpstr>
      <vt:lpstr>Weak associations between personality and neurocognitive measures Conceptual issues: Strong vs. weak situations </vt:lpstr>
      <vt:lpstr>Weak associations between personality and neurocognitive measures Conceptual issues: Strong vs. weak situations </vt:lpstr>
      <vt:lpstr>Weak associations between personality and neurocognitive measures Integration: Summary and suggestions </vt:lpstr>
      <vt:lpstr>Thank you!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Präsentationsvorlagen im CD der TU Dresden</dc:title>
  <dc:creator>Alex Strobel</dc:creator>
  <cp:lastModifiedBy>Alexander Strobel</cp:lastModifiedBy>
  <cp:revision>301</cp:revision>
  <cp:lastPrinted>2026-05-19T14:52:39Z</cp:lastPrinted>
  <dcterms:created xsi:type="dcterms:W3CDTF">2018-03-14T12:16:33Z</dcterms:created>
  <dcterms:modified xsi:type="dcterms:W3CDTF">2026-06-02T06:50:36Z</dcterms:modified>
</cp:coreProperties>
</file>